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e2928edf-0752-f492-44f5-06cef69b8563}">
          <p14:sldIdLst>
            <p14:sldId id="256"/>
            <p14:sldId id="257"/>
          </p14:sldIdLst>
        </p14:section>
        <p14:section name="Data and Method" id="{931fde19-a75c-f3fb-90e0-8719fe5ef2d0}">
          <p14:sldIdLst>
            <p14:sldId id="258"/>
            <p14:sldId id="259"/>
            <p14:sldId id="260"/>
            <p14:sldId id="261"/>
          </p14:sldIdLst>
        </p14:section>
        <p14:section name="Results" id="{358ddfd8-046d-c183-6d23-48bdfff3f35a}">
          <p14:sldIdLst>
            <p14:sldId id="262"/>
            <p14:sldId id="263"/>
          </p14:sldIdLst>
        </p14:section>
        <p14:section name="Demo" id="{bc2d16cd-8834-d238-7c88-4b7d3dec668f}">
          <p14:sldIdLst>
            <p14:sldId id="264"/>
            <p14:sldId id="265"/>
          </p14:sldIdLst>
        </p14:section>
        <p14:section name="Conclusion" id="{941271d5-45f6-464c-e3f1-9c095ce1b242}">
          <p14:sldIdLst>
            <p14:sldId id="266"/>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334155"/>
                </a:solidFill>
                <a:latin typeface="+mn-lt"/>
              </a:defRPr>
            </a:pPr>
            <a:r>
              <a:rPr sz="1100" b="0" i="0" u="none" strike="noStrike">
                <a:solidFill>
                  <a:srgbClr val="334155"/>
                </a:solidFill>
                <a:latin typeface="+mn-lt"/>
              </a:rPr>
              <a:t>Questions per type (80/20 stratified split: 11,982 train / 2,996 test)</a:t>
            </a:r>
          </a:p>
        </c:rich>
      </c:tx>
      <c:layout/>
      <c:overlay val="0"/>
    </c:title>
    <c:autoTitleDeleted val="0"/>
    <c:plotArea>
      <c:layout/>
      <c:barChart>
        <c:barDir val="bar"/>
        <c:grouping val="clustered"/>
        <c:varyColors val="0"/>
        <c:ser>
          <c:idx val="0"/>
          <c:order val="0"/>
          <c:tx>
            <c:strRef>
              <c:f>Sheet1!$B$1</c:f>
              <c:strCache>
                <c:ptCount val="1"/>
                <c:pt idx="0">
                  <c:v>Questions</c:v>
                </c:pt>
              </c:strCache>
            </c:strRef>
          </c:tx>
          <c:spPr>
            <a:solidFill>
              <a:srgbClr val="0F766E"/>
            </a:solidFill>
            <a:effectLst/>
          </c:spPr>
          <c:invertIfNegative val="0"/>
          <c:dLbls>
            <c:numFmt formatCode="#,##0" sourceLinked="0"/>
            <c:txPr>
              <a:bodyPr/>
              <a:lstStyle/>
              <a:p>
                <a:pPr>
                  <a:defRPr b="0" i="0" strike="noStrike" sz="800" u="none">
                    <a:solidFill>
                      <a:srgbClr val="334155"/>
                    </a:solidFill>
                    <a:latin typeface="+mn-lt"/>
                  </a:defRPr>
                </a:pPr>
              </a:p>
            </c:txPr>
            <c:showLegendKey val="0"/>
            <c:showVal val="1"/>
            <c:showCatName val="0"/>
            <c:showSerName val="0"/>
            <c:showPercent val="0"/>
            <c:showBubbleSize val="0"/>
            <c:showLeaderLines val="0"/>
          </c:dLbls>
          <c:cat>
            <c:multiLvlStrRef>
              <c:f>Sheet1!$A$2:$A$16</c:f>
              <c:multiLvlStrCache>
                <c:ptCount val="15"/>
                <c:lvl>
                  <c:pt idx="0">
                    <c:v>information</c:v>
                  </c:pt>
                  <c:pt idx="1">
                    <c:v>symptoms</c:v>
                  </c:pt>
                  <c:pt idx="2">
                    <c:v>treatment</c:v>
                  </c:pt>
                  <c:pt idx="3">
                    <c:v>inheritance</c:v>
                  </c:pt>
                  <c:pt idx="4">
                    <c:v>frequency</c:v>
                  </c:pt>
                  <c:pt idx="5">
                    <c:v>genetic changes</c:v>
                  </c:pt>
                  <c:pt idx="6">
                    <c:v>causes</c:v>
                  </c:pt>
                  <c:pt idx="7">
                    <c:v>exams and tests</c:v>
                  </c:pt>
                  <c:pt idx="8">
                    <c:v>research</c:v>
                  </c:pt>
                  <c:pt idx="9">
                    <c:v>outlook</c:v>
                  </c:pt>
                  <c:pt idx="10">
                    <c:v>susceptibility</c:v>
                  </c:pt>
                  <c:pt idx="11">
                    <c:v>prevention</c:v>
                  </c:pt>
                  <c:pt idx="12">
                    <c:v>considerations</c:v>
                  </c:pt>
                  <c:pt idx="13">
                    <c:v>stages</c:v>
                  </c:pt>
                  <c:pt idx="14">
                    <c:v>complications</c:v>
                  </c:pt>
                </c:lvl>
              </c:multiLvlStrCache>
            </c:multiLvlStrRef>
          </c:cat>
          <c:val>
            <c:numRef>
              <c:f>Sheet1!$B$2:$B$16</c:f>
              <c:numCache>
                <c:formatCode>General</c:formatCode>
                <c:ptCount val="15"/>
                <c:pt idx="0">
                  <c:v>3822</c:v>
                </c:pt>
                <c:pt idx="1">
                  <c:v>2683</c:v>
                </c:pt>
                <c:pt idx="2">
                  <c:v>2213</c:v>
                </c:pt>
                <c:pt idx="3">
                  <c:v>1382</c:v>
                </c:pt>
                <c:pt idx="4">
                  <c:v>1120</c:v>
                </c:pt>
                <c:pt idx="5">
                  <c:v>1087</c:v>
                </c:pt>
                <c:pt idx="6">
                  <c:v>657</c:v>
                </c:pt>
                <c:pt idx="7">
                  <c:v>611</c:v>
                </c:pt>
                <c:pt idx="8">
                  <c:v>369</c:v>
                </c:pt>
                <c:pt idx="9">
                  <c:v>354</c:v>
                </c:pt>
                <c:pt idx="10">
                  <c:v>245</c:v>
                </c:pt>
                <c:pt idx="11">
                  <c:v>183</c:v>
                </c:pt>
                <c:pt idx="12">
                  <c:v>133</c:v>
                </c:pt>
                <c:pt idx="13">
                  <c:v>76</c:v>
                </c:pt>
                <c:pt idx="14">
                  <c:v>43</c:v>
                </c:pt>
              </c:numCache>
            </c:numRef>
          </c:val>
        </c:ser>
        <c:dLbls>
          <c:numFmt formatCode="#,##0" sourceLinked="0"/>
          <c:txPr>
            <a:bodyPr/>
            <a:lstStyle/>
            <a:p>
              <a:pPr>
                <a:defRPr b="0" i="0" strike="noStrike" sz="800" u="none">
                  <a:solidFill>
                    <a:srgbClr val="334155"/>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334155"/>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4748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334155"/>
                </a:solidFill>
                <a:latin typeface="+mn-lt"/>
              </a:defRPr>
            </a:pPr>
            <a:r>
              <a:rPr sz="1100" b="0" i="0" u="none" strike="noStrike">
                <a:solidFill>
                  <a:srgbClr val="334155"/>
                </a:solidFill>
                <a:latin typeface="+mn-lt"/>
              </a:rPr>
              <a:t>Test set (2,996 questions)</a:t>
            </a:r>
          </a:p>
        </c:rich>
      </c:tx>
      <c:layout/>
      <c:overlay val="0"/>
    </c:title>
    <c:autoTitleDeleted val="0"/>
    <c:plotArea>
      <c:layout/>
      <c:barChart>
        <c:barDir val="col"/>
        <c:grouping val="clustered"/>
        <c:varyColors val="0"/>
        <c:ser>
          <c:idx val="0"/>
          <c:order val="0"/>
          <c:tx>
            <c:strRef>
              <c:f>Sheet1!$B$1</c:f>
              <c:strCache>
                <c:ptCount val="1"/>
                <c:pt idx="0">
                  <c:v>Accuracy</c:v>
                </c:pt>
              </c:strCache>
            </c:strRef>
          </c:tx>
          <c:spPr>
            <a:solidFill>
              <a:srgbClr val="0F766E"/>
            </a:solidFill>
            <a:effectLst/>
          </c:spPr>
          <c:invertIfNegative val="0"/>
          <c:dLbls>
            <c:numFmt formatCode="0.000" sourceLinked="0"/>
            <c:txPr>
              <a:bodyPr/>
              <a:lstStyle/>
              <a:p>
                <a:pPr>
                  <a:defRPr b="0" i="0" strike="noStrike" sz="1000" u="none">
                    <a:solidFill>
                      <a:srgbClr val="334155"/>
                    </a:solidFill>
                    <a:latin typeface="+mn-lt"/>
                  </a:defRPr>
                </a:pPr>
              </a:p>
            </c:txPr>
            <c:showLegendKey val="0"/>
            <c:showVal val="1"/>
            <c:showCatName val="0"/>
            <c:showSerName val="0"/>
            <c:showPercent val="0"/>
            <c:showBubbleSize val="0"/>
            <c:showLeaderLines val="0"/>
          </c:dLbls>
          <c:cat>
            <c:multiLvlStrRef>
              <c:f>Sheet1!$A$2:$A$4</c:f>
              <c:multiLvlStrCache>
                <c:ptCount val="3"/>
                <c:lvl>
                  <c:pt idx="0">
                    <c:v>Naive Bayes</c:v>
                  </c:pt>
                  <c:pt idx="1">
                    <c:v>Linear SVM</c:v>
                  </c:pt>
                  <c:pt idx="2">
                    <c:v>Logistic Regression</c:v>
                  </c:pt>
                </c:lvl>
              </c:multiLvlStrCache>
            </c:multiLvlStrRef>
          </c:cat>
          <c:val>
            <c:numRef>
              <c:f>Sheet1!$B$2:$B$4</c:f>
              <c:numCache>
                <c:formatCode>General</c:formatCode>
                <c:ptCount val="3"/>
                <c:pt idx="0">
                  <c:v>0.9246</c:v>
                </c:pt>
                <c:pt idx="1">
                  <c:v>1</c:v>
                </c:pt>
                <c:pt idx="2">
                  <c:v>0.9993</c:v>
                </c:pt>
              </c:numCache>
            </c:numRef>
          </c:val>
        </c:ser>
        <c:ser>
          <c:idx val="1"/>
          <c:order val="1"/>
          <c:tx>
            <c:strRef>
              <c:f>Sheet1!$C$1</c:f>
              <c:strCache>
                <c:ptCount val="1"/>
                <c:pt idx="0">
                  <c:v>Macro F1</c:v>
                </c:pt>
              </c:strCache>
            </c:strRef>
          </c:tx>
          <c:spPr>
            <a:solidFill>
              <a:srgbClr val="14B8A6"/>
            </a:solidFill>
            <a:effectLst/>
          </c:spPr>
          <c:invertIfNegative val="0"/>
          <c:dLbls>
            <c:numFmt formatCode="0.000" sourceLinked="0"/>
            <c:txPr>
              <a:bodyPr/>
              <a:lstStyle/>
              <a:p>
                <a:pPr>
                  <a:defRPr b="0" i="0" strike="noStrike" sz="1000" u="none">
                    <a:solidFill>
                      <a:srgbClr val="334155"/>
                    </a:solidFill>
                    <a:latin typeface="+mn-lt"/>
                  </a:defRPr>
                </a:pPr>
              </a:p>
            </c:txPr>
            <c:showLegendKey val="0"/>
            <c:showVal val="1"/>
            <c:showCatName val="0"/>
            <c:showSerName val="0"/>
            <c:showPercent val="0"/>
            <c:showBubbleSize val="0"/>
            <c:showLeaderLines val="0"/>
          </c:dLbls>
          <c:cat>
            <c:multiLvlStrRef>
              <c:f>Sheet1!$A$2:$A$4</c:f>
              <c:multiLvlStrCache>
                <c:ptCount val="3"/>
                <c:lvl>
                  <c:pt idx="0">
                    <c:v>Naive Bayes</c:v>
                  </c:pt>
                  <c:pt idx="1">
                    <c:v>Linear SVM</c:v>
                  </c:pt>
                  <c:pt idx="2">
                    <c:v>Logistic Regression</c:v>
                  </c:pt>
                </c:lvl>
              </c:multiLvlStrCache>
            </c:multiLvlStrRef>
          </c:cat>
          <c:val>
            <c:numRef>
              <c:f>Sheet1!$C$2:$C$4</c:f>
              <c:numCache>
                <c:formatCode>General</c:formatCode>
                <c:ptCount val="3"/>
                <c:pt idx="0">
                  <c:v>0.892</c:v>
                </c:pt>
                <c:pt idx="1">
                  <c:v>1</c:v>
                </c:pt>
                <c:pt idx="2">
                  <c:v>0.9979</c:v>
                </c:pt>
              </c:numCache>
            </c:numRef>
          </c:val>
        </c:ser>
        <c:dLbls>
          <c:numFmt formatCode="0.000" sourceLinked="0"/>
          <c:txPr>
            <a:bodyPr/>
            <a:lstStyle/>
            <a:p>
              <a:pPr>
                <a:defRPr b="0" i="0" strike="noStrike" sz="1000" u="none">
                  <a:solidFill>
                    <a:srgbClr val="334155"/>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34155"/>
                </a:solidFill>
                <a:latin typeface="+mn-lt"/>
              </a:defRPr>
            </a:pPr>
            <a:endParaRPr lang="en-US"/>
          </a:p>
        </c:txPr>
        <c:crossAx val="2094734552"/>
        <c:crosses val="autoZero"/>
        <c:auto val="1"/>
        <c:lblAlgn val="ctr"/>
        <c:noMultiLvlLbl val="1"/>
      </c:catAx>
      <c:valAx>
        <c:axId val="2094734552"/>
        <c:scaling>
          <c:orientation val="minMax"/>
          <c:max val="1.02"/>
          <c:min val="0.8"/>
        </c:scaling>
        <c:delete val="0"/>
        <c:axPos val="l"/>
        <c:majorGridlines>
          <c:spPr>
            <a:ln w="9525" cap="flat">
              <a:solidFill>
                <a:srgbClr val="E2E8F0"/>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4748B"/>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334155"/>
                </a:solidFill>
                <a:latin typeface="+mn-lt"/>
              </a:defRPr>
            </a:pPr>
            <a:r>
              <a:rPr sz="1100" b="0" i="0" u="none" strike="noStrike">
                <a:solidFill>
                  <a:srgbClr val="334155"/>
                </a:solidFill>
                <a:latin typeface="+mn-lt"/>
              </a:rPr>
              <a:t>2,000 paraphrased test questions</a:t>
            </a:r>
          </a:p>
        </c:rich>
      </c:tx>
      <c:layout/>
      <c:overlay val="0"/>
    </c:title>
    <c:autoTitleDeleted val="0"/>
    <c:plotArea>
      <c:layout/>
      <c:barChart>
        <c:barDir val="col"/>
        <c:grouping val="clustered"/>
        <c:varyColors val="0"/>
        <c:ser>
          <c:idx val="0"/>
          <c:order val="0"/>
          <c:tx>
            <c:strRef>
              <c:f>Sheet1!$B$1</c:f>
              <c:strCache>
                <c:ptCount val="1"/>
                <c:pt idx="0">
                  <c:v>TF-IDF (word)</c:v>
                </c:pt>
              </c:strCache>
            </c:strRef>
          </c:tx>
          <c:spPr>
            <a:solidFill>
              <a:srgbClr val="64748B"/>
            </a:solidFill>
            <a:effectLst/>
          </c:spPr>
          <c:invertIfNegative val="0"/>
          <c:dLbls>
            <c:numFmt formatCode="0.00" sourceLinked="0"/>
            <c:txPr>
              <a:bodyPr/>
              <a:lstStyle/>
              <a:p>
                <a:pPr>
                  <a:defRPr b="0" i="0" strike="noStrike" sz="900" u="none">
                    <a:solidFill>
                      <a:srgbClr val="334155"/>
                    </a:solidFill>
                    <a:latin typeface="+mn-lt"/>
                  </a:defRPr>
                </a:pPr>
              </a:p>
            </c:txPr>
            <c:showLegendKey val="0"/>
            <c:showVal val="1"/>
            <c:showCatName val="0"/>
            <c:showSerName val="0"/>
            <c:showPercent val="0"/>
            <c:showBubbleSize val="0"/>
            <c:showLeaderLines val="0"/>
          </c:dLbls>
          <c:cat>
            <c:multiLvlStrRef>
              <c:f>Sheet1!$A$2:$A$6</c:f>
              <c:multiLvlStrCache>
                <c:ptCount val="5"/>
                <c:lvl>
                  <c:pt idx="0">
                    <c:v>Hit@1</c:v>
                  </c:pt>
                  <c:pt idx="1">
                    <c:v>Hit@3</c:v>
                  </c:pt>
                  <c:pt idx="2">
                    <c:v>Hit@5</c:v>
                  </c:pt>
                  <c:pt idx="3">
                    <c:v>MRR</c:v>
                  </c:pt>
                  <c:pt idx="4">
                    <c:v>Topic Hit@1</c:v>
                  </c:pt>
                </c:lvl>
              </c:multiLvlStrCache>
            </c:multiLvlStrRef>
          </c:cat>
          <c:val>
            <c:numRef>
              <c:f>Sheet1!$B$2:$B$6</c:f>
              <c:numCache>
                <c:formatCode>General</c:formatCode>
                <c:ptCount val="5"/>
                <c:pt idx="0">
                  <c:v>0.394</c:v>
                </c:pt>
                <c:pt idx="1">
                  <c:v>0.702</c:v>
                </c:pt>
                <c:pt idx="2">
                  <c:v>0.887</c:v>
                </c:pt>
                <c:pt idx="3">
                  <c:v>0.5669</c:v>
                </c:pt>
                <c:pt idx="4">
                  <c:v>0.9345</c:v>
                </c:pt>
              </c:numCache>
            </c:numRef>
          </c:val>
        </c:ser>
        <c:ser>
          <c:idx val="1"/>
          <c:order val="1"/>
          <c:tx>
            <c:strRef>
              <c:f>Sheet1!$C$1</c:f>
              <c:strCache>
                <c:ptCount val="1"/>
                <c:pt idx="0">
                  <c:v>Hybrid (word + char)</c:v>
                </c:pt>
              </c:strCache>
            </c:strRef>
          </c:tx>
          <c:spPr>
            <a:solidFill>
              <a:srgbClr val="0F766E"/>
            </a:solidFill>
            <a:effectLst/>
          </c:spPr>
          <c:invertIfNegative val="0"/>
          <c:dLbls>
            <c:numFmt formatCode="0.00" sourceLinked="0"/>
            <c:txPr>
              <a:bodyPr/>
              <a:lstStyle/>
              <a:p>
                <a:pPr>
                  <a:defRPr b="0" i="0" strike="noStrike" sz="900" u="none">
                    <a:solidFill>
                      <a:srgbClr val="334155"/>
                    </a:solidFill>
                    <a:latin typeface="+mn-lt"/>
                  </a:defRPr>
                </a:pPr>
              </a:p>
            </c:txPr>
            <c:showLegendKey val="0"/>
            <c:showVal val="1"/>
            <c:showCatName val="0"/>
            <c:showSerName val="0"/>
            <c:showPercent val="0"/>
            <c:showBubbleSize val="0"/>
            <c:showLeaderLines val="0"/>
          </c:dLbls>
          <c:cat>
            <c:multiLvlStrRef>
              <c:f>Sheet1!$A$2:$A$6</c:f>
              <c:multiLvlStrCache>
                <c:ptCount val="5"/>
                <c:lvl>
                  <c:pt idx="0">
                    <c:v>Hit@1</c:v>
                  </c:pt>
                  <c:pt idx="1">
                    <c:v>Hit@3</c:v>
                  </c:pt>
                  <c:pt idx="2">
                    <c:v>Hit@5</c:v>
                  </c:pt>
                  <c:pt idx="3">
                    <c:v>MRR</c:v>
                  </c:pt>
                  <c:pt idx="4">
                    <c:v>Topic Hit@1</c:v>
                  </c:pt>
                </c:lvl>
              </c:multiLvlStrCache>
            </c:multiLvlStrRef>
          </c:cat>
          <c:val>
            <c:numRef>
              <c:f>Sheet1!$C$2:$C$6</c:f>
              <c:numCache>
                <c:formatCode>General</c:formatCode>
                <c:ptCount val="5"/>
                <c:pt idx="0">
                  <c:v>0.4085</c:v>
                </c:pt>
                <c:pt idx="1">
                  <c:v>0.7275</c:v>
                </c:pt>
                <c:pt idx="2">
                  <c:v>0.892</c:v>
                </c:pt>
                <c:pt idx="3">
                  <c:v>0.5841</c:v>
                </c:pt>
                <c:pt idx="4">
                  <c:v>0.952</c:v>
                </c:pt>
              </c:numCache>
            </c:numRef>
          </c:val>
        </c:ser>
        <c:dLbls>
          <c:numFmt formatCode="0.00" sourceLinked="0"/>
          <c:txPr>
            <a:bodyPr/>
            <a:lstStyle/>
            <a:p>
              <a:pPr>
                <a:defRPr b="0" i="0" strike="noStrike" sz="900" u="none">
                  <a:solidFill>
                    <a:srgbClr val="334155"/>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34155"/>
                </a:solidFill>
                <a:latin typeface="+mn-lt"/>
              </a:defRPr>
            </a:pPr>
            <a:endParaRPr lang="en-US"/>
          </a:p>
        </c:txPr>
        <c:crossAx val="2094734552"/>
        <c:crosses val="autoZero"/>
        <c:auto val="1"/>
        <c:lblAlgn val="ctr"/>
        <c:noMultiLvlLbl val="1"/>
      </c:catAx>
      <c:valAx>
        <c:axId val="2094734552"/>
        <c:scaling>
          <c:orientation val="minMax"/>
          <c:max val="1.05"/>
          <c:min val="0"/>
        </c:scaling>
        <c:delete val="0"/>
        <c:axPos val="l"/>
        <c:majorGridlines>
          <c:spPr>
            <a:ln w="9525" cap="flat">
              <a:solidFill>
                <a:srgbClr val="E2E8F0"/>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4748B"/>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MediAssist: a virtual healthcare assistant that combines a large language model with an agent that plans and executes tasks. It is trained and evaluated on the MedQuAD medical question answering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organization wants one assistant for four tasks: medical questions, appointment scheduling, summarizing health reports, and preventive recommendations. A single message can combine several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MedQuAD contains question-answer pairs from trusted NIH sources such as MedlinePlus and GARD. After removing duplicate questions and one class with a single example, 14,978 pairs across 15 question types remain. Classes are imbalanced, so the split is stratified.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patient talks to a Streamlit UI. The agent first runs a safety check, then plans. In LLM mode, Gemini chooses tools through function calling. Tools wrap the trained MedQuAD models, the appointment store, the report analyzer and the prevention engine. Without an API key, a rule-based planner drives the same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loop is what makes the system agentic. In the example, the user never names a specialty. The agent reads the report output, sees high blood sugar, and books Endocrinology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retriever finds the most similar MedQuAD questions. The classifier predicts the question type, which helps interpret the query. Gemini orchestrates the tools and writes the final answer from the retrieved passages, which reduces hallucination.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Logistic Regression reaches 99.9% accuracy and SVM 100%, but that is because the questions are templated, like 'What are the symptoms of X'. When we paraphrase test questions, accuracy drops to about 43%. That honest result motivated using the LLM for understanding free-form 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test robustness, we paraphrase test questions. Exact Hit@1 is about 41% because each disease has many similar questions. But the retriever lands on the right disease 95% of the time, and the exact answer is in the top five 89% of the time. That is why we pass the top passages to the LLM. The hybrid model beats word-only TF-IDF on every metric.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tick 'Attach report', then ask to summarize the report and book the right doctor. Expand the reasoning trace to show plan, act, reason and respond.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Load the sample report. The parser extracts each value, compares it with the normal range, highlights abnormal rows, gives advice, and suggests Endocrinology because of high sugar and HbA1c.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Healthcare needs guardrails. Emergency keywords bypass the agent entirely. Answers are grounded in trusted data. The assistant never diagnoses or prescribes. An offline mode keeps the demo, and patient data, local.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limitation maps to a concrete next step. The biggest gain would come from dense medical embeddings, which understand that 'signs' and 'symptoms' mean the same 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MediAssist combines trained retrieval and classification models on MedQuAD with an LLM agent that plans and executes healthcare tasks.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rgbClr val="0B3B3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325880"/>
            <a:ext cx="5120640" cy="118872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548640" y="2651760"/>
            <a:ext cx="5120640" cy="1280160"/>
          </a:xfrm>
          <a:prstGeom prst="rect">
            <a:avLst/>
          </a:prstGeom>
          <a:noFill/>
          <a:ln/>
        </p:spPr>
        <p:txBody>
          <a:bodyPr wrap="square" rtlCol="0"/>
          <a:lstStyle>
            <a:lvl1pPr algn="l" indent="0" marL="0">
              <a:buNone/>
              <a:defRPr lang="en-US" sz="1800" dirty="0">
                <a:solidFill>
                  <a:schemeClr val="accent5"/>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Only">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28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3" name="Text 0"/>
          <p:cNvSpPr/>
          <p:nvPr/>
        </p:nvSpPr>
        <p:spPr>
          <a:xfrm>
            <a:off x="457200" y="4754880"/>
            <a:ext cx="5486400" cy="274320"/>
          </a:xfrm>
          <a:prstGeom prst="rect">
            <a:avLst/>
          </a:prstGeom>
          <a:noFill/>
          <a:ln/>
        </p:spPr>
        <p:txBody>
          <a:bodyPr wrap="square" lIns="0" tIns="0" rIns="0" bIns="0" rtlCol="0" anchor="ctr"/>
          <a:lstStyle/>
          <a:p>
            <a:pPr indent="0" marL="0">
              <a:buNone/>
            </a:pPr>
            <a:r>
              <a:rPr lang="en-US" sz="1000" dirty="0">
                <a:solidFill>
                  <a:schemeClr val="accent4"/>
                </a:solidFill>
              </a:rPr>
              <a:t>MediAssist  ·  LLM + Agentic AI Healthcare Assistant</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3.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325880"/>
            <a:ext cx="5120640" cy="1188720"/>
          </a:xfrm>
          <a:prstGeom prst="rect">
            <a:avLst/>
          </a:prstGeom>
          <a:noFill/>
          <a:ln/>
        </p:spPr>
        <p:txBody>
          <a:bodyPr wrap="square" lIns="0" tIns="0" rIns="0" bIns="0" rtlCol="0" anchor="b"/>
          <a:lstStyle/>
          <a:p>
            <a:pPr algn="l" indent="0" marL="0">
              <a:buNone/>
            </a:pPr>
            <a:r>
              <a:rPr lang="en-US" sz="4400" b="1" dirty="0">
                <a:solidFill>
                  <a:schemeClr val="bg1"/>
                </a:solidFill>
                <a:latin typeface="Cambria" pitchFamily="34" charset="0"/>
                <a:ea typeface="Cambria" pitchFamily="34" charset="-122"/>
                <a:cs typeface="Cambria" pitchFamily="34" charset="-120"/>
              </a:rPr>
              <a:t>MediAssist</a:t>
            </a:r>
            <a:endParaRPr lang="en-US" sz="4400" dirty="0"/>
          </a:p>
        </p:txBody>
      </p:sp>
      <p:sp>
        <p:nvSpPr>
          <p:cNvPr id="3" name="Text 0"/>
          <p:cNvSpPr/>
          <p:nvPr>
            <p:ph idx="101" type="body" hasCustomPrompt="1"/>
          </p:nvPr>
        </p:nvSpPr>
        <p:spPr>
          <a:xfrm>
            <a:off x="548640" y="2651760"/>
            <a:ext cx="5120640" cy="1280160"/>
          </a:xfrm>
          <a:prstGeom prst="rect">
            <a:avLst/>
          </a:prstGeom>
          <a:noFill/>
          <a:ln/>
        </p:spPr>
        <p:txBody>
          <a:bodyPr wrap="square" lIns="0" tIns="0" rIns="0" bIns="0" rtlCol="0" anchor="t"/>
          <a:lstStyle/>
          <a:p>
            <a:pPr algn="l" indent="0" marL="0">
              <a:buNone/>
            </a:pPr>
            <a:r>
              <a:rPr lang="en-US" sz="1800" dirty="0">
                <a:solidFill>
                  <a:schemeClr val="accent5"/>
                </a:solidFill>
              </a:rPr>
              <a:t>LLM + Agentic AI Healthcare Conversational Assistant</a:t>
            </a:r>
            <a:endParaRPr lang="en-US" sz="1800" dirty="0"/>
          </a:p>
          <a:p>
            <a:pPr algn="l" indent="0" marL="0">
              <a:buNone/>
            </a:pPr>
            <a:r>
              <a:rPr lang="en-US" sz="1400" dirty="0">
                <a:solidFill>
                  <a:schemeClr val="accent2"/>
                </a:solidFill>
              </a:rPr>
              <a:t>Deep Learning Course Project  ·  MedQuAD dataset</a:t>
            </a:r>
            <a:endParaRPr lang="en-US" sz="1800" dirty="0"/>
          </a:p>
        </p:txBody>
      </p:sp>
      <p:sp>
        <p:nvSpPr>
          <p:cNvPr id="4" name="hero circle"/>
          <p:cNvSpPr/>
          <p:nvPr/>
        </p:nvSpPr>
        <p:spPr>
          <a:xfrm>
            <a:off x="6172200" y="1051560"/>
            <a:ext cx="2468880" cy="2468880"/>
          </a:xfrm>
          <a:prstGeom prst="ellipse">
            <a:avLst/>
          </a:prstGeom>
          <a:solidFill>
            <a:schemeClr val="accent1"/>
          </a:solidFill>
          <a:ln/>
        </p:spPr>
      </p:sp>
      <p:pic>
        <p:nvPicPr>
          <p:cNvPr id="5" name="hero icon" descr="preencoded.png">    </p:cNvPr>
          <p:cNvPicPr>
            <a:picLocks noChangeAspect="1"/>
          </p:cNvPicPr>
          <p:nvPr/>
        </p:nvPicPr>
        <p:blipFill>
          <a:blip r:embed="rId1"/>
          <a:stretch>
            <a:fillRect/>
          </a:stretch>
        </p:blipFill>
        <p:spPr>
          <a:xfrm>
            <a:off x="6766560" y="1645920"/>
            <a:ext cx="1280160" cy="12801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One assistant handles four patient tasks</a:t>
            </a:r>
            <a:endParaRPr lang="en-US" sz="2800" dirty="0"/>
          </a:p>
        </p:txBody>
      </p:sp>
      <p:sp>
        <p:nvSpPr>
          <p:cNvPr id="3" name="problem text"/>
          <p:cNvSpPr txBox="1"/>
          <p:nvPr/>
        </p:nvSpPr>
        <p:spPr>
          <a:xfrm>
            <a:off x="457200" y="1188720"/>
            <a:ext cx="3017520" cy="1463040"/>
          </a:xfrm>
          <a:prstGeom prst="rect">
            <a:avLst/>
          </a:prstGeom>
          <a:noFill/>
          <a:ln/>
        </p:spPr>
        <p:txBody>
          <a:bodyPr wrap="square" lIns="0" tIns="0" rIns="0" bIns="0" rtlCol="0" anchor="t"/>
          <a:lstStyle/>
          <a:p>
            <a:pPr indent="0" marL="0">
              <a:buNone/>
            </a:pPr>
            <a:r>
              <a:rPr lang="en-US" sz="1500" dirty="0">
                <a:solidFill>
                  <a:schemeClr val="tx1"/>
                </a:solidFill>
              </a:rPr>
              <a:t>Patients wait on phone lines for simple answers, bookings and report explanations. MediAssist automates these routine requests so staff can focus on care.</a:t>
            </a:r>
            <a:endParaRPr lang="en-US" sz="1500" dirty="0"/>
          </a:p>
        </p:txBody>
      </p:sp>
      <p:sp>
        <p:nvSpPr>
          <p:cNvPr id="4" name="goal text"/>
          <p:cNvSpPr txBox="1"/>
          <p:nvPr/>
        </p:nvSpPr>
        <p:spPr>
          <a:xfrm>
            <a:off x="457200" y="2834640"/>
            <a:ext cx="3017520" cy="1097280"/>
          </a:xfrm>
          <a:prstGeom prst="rect">
            <a:avLst/>
          </a:prstGeom>
          <a:noFill/>
          <a:ln/>
        </p:spPr>
        <p:txBody>
          <a:bodyPr wrap="square" lIns="0" tIns="0" rIns="0" bIns="0" rtlCol="0" anchor="t"/>
          <a:lstStyle/>
          <a:p>
            <a:pPr indent="0" marL="0">
              <a:buNone/>
            </a:pPr>
            <a:r>
              <a:rPr lang="en-US" sz="1400" i="1" dirty="0">
                <a:solidFill>
                  <a:schemeClr val="accent1"/>
                </a:solidFill>
              </a:rPr>
              <a:t>Goal: plan and execute multi-step requests autonomously, grounded in trusted medical data.</a:t>
            </a:r>
            <a:endParaRPr lang="en-US" sz="1400" dirty="0"/>
          </a:p>
        </p:txBody>
      </p:sp>
      <p:sp>
        <p:nvSpPr>
          <p:cNvPr id="5" name="capability card 1"/>
          <p:cNvSpPr/>
          <p:nvPr/>
        </p:nvSpPr>
        <p:spPr>
          <a:xfrm>
            <a:off x="3840480" y="1188720"/>
            <a:ext cx="2286000" cy="1463040"/>
          </a:xfrm>
          <a:prstGeom prst="roundRect">
            <a:avLst>
              <a:gd name="adj" fmla="val 5000"/>
            </a:avLst>
          </a:prstGeom>
          <a:solidFill>
            <a:schemeClr val="bg2"/>
          </a:solidFill>
          <a:ln/>
          <a:effectLst>
            <a:outerShdw sx="100000" sy="100000" kx="0" ky="0" algn="bl" rotWithShape="0" blurRad="76200" dist="25400" dir="5400000">
              <a:srgbClr val="0F172A">
                <a:alpha val="12000"/>
              </a:srgbClr>
            </a:outerShdw>
          </a:effectLst>
        </p:spPr>
      </p:sp>
      <p:sp>
        <p:nvSpPr>
          <p:cNvPr id="6" name="capability 1 circle"/>
          <p:cNvSpPr/>
          <p:nvPr/>
        </p:nvSpPr>
        <p:spPr>
          <a:xfrm>
            <a:off x="4023360" y="1371600"/>
            <a:ext cx="502920" cy="502920"/>
          </a:xfrm>
          <a:prstGeom prst="ellipse">
            <a:avLst/>
          </a:prstGeom>
          <a:solidFill>
            <a:srgbClr val="0F766E"/>
          </a:solidFill>
          <a:ln/>
        </p:spPr>
      </p:sp>
      <p:pic>
        <p:nvPicPr>
          <p:cNvPr id="7" name="capability 1 icon" descr="preencoded.png">    </p:cNvPr>
          <p:cNvPicPr>
            <a:picLocks noChangeAspect="1"/>
          </p:cNvPicPr>
          <p:nvPr/>
        </p:nvPicPr>
        <p:blipFill>
          <a:blip r:embed="rId1"/>
          <a:stretch>
            <a:fillRect/>
          </a:stretch>
        </p:blipFill>
        <p:spPr>
          <a:xfrm>
            <a:off x="4154119" y="1502359"/>
            <a:ext cx="241402" cy="241402"/>
          </a:xfrm>
          <a:prstGeom prst="rect">
            <a:avLst/>
          </a:prstGeom>
        </p:spPr>
      </p:pic>
      <p:sp>
        <p:nvSpPr>
          <p:cNvPr id="8" name="capability title 1"/>
          <p:cNvSpPr txBox="1"/>
          <p:nvPr/>
        </p:nvSpPr>
        <p:spPr>
          <a:xfrm>
            <a:off x="4663440" y="1435608"/>
            <a:ext cx="1371600" cy="365760"/>
          </a:xfrm>
          <a:prstGeom prst="rect">
            <a:avLst/>
          </a:prstGeom>
          <a:noFill/>
          <a:ln/>
        </p:spPr>
        <p:txBody>
          <a:bodyPr wrap="square" lIns="0" tIns="0" rIns="0" bIns="0" rtlCol="0" anchor="t"/>
          <a:lstStyle/>
          <a:p>
            <a:pPr indent="0" marL="0">
              <a:buNone/>
            </a:pPr>
            <a:r>
              <a:rPr lang="en-US" sz="1500" b="1" dirty="0">
                <a:solidFill>
                  <a:schemeClr val="tx2"/>
                </a:solidFill>
              </a:rPr>
              <a:t>Medical Q&amp;A</a:t>
            </a:r>
            <a:endParaRPr lang="en-US" sz="1500" dirty="0"/>
          </a:p>
        </p:txBody>
      </p:sp>
      <p:sp>
        <p:nvSpPr>
          <p:cNvPr id="9" name="capability text 1"/>
          <p:cNvSpPr txBox="1"/>
          <p:nvPr/>
        </p:nvSpPr>
        <p:spPr>
          <a:xfrm>
            <a:off x="4023360" y="1965960"/>
            <a:ext cx="1920240" cy="594360"/>
          </a:xfrm>
          <a:prstGeom prst="rect">
            <a:avLst/>
          </a:prstGeom>
          <a:noFill/>
          <a:ln/>
        </p:spPr>
        <p:txBody>
          <a:bodyPr wrap="square" lIns="0" tIns="0" rIns="0" bIns="0" rtlCol="0" anchor="t"/>
          <a:lstStyle/>
          <a:p>
            <a:pPr indent="0" marL="0">
              <a:buNone/>
            </a:pPr>
            <a:r>
              <a:rPr lang="en-US" sz="1200" dirty="0">
                <a:solidFill>
                  <a:schemeClr val="tx1"/>
                </a:solidFill>
              </a:rPr>
              <a:t>Answers grounded in NIH-sourced MedQuAD passages</a:t>
            </a:r>
            <a:endParaRPr lang="en-US" sz="1200" dirty="0"/>
          </a:p>
        </p:txBody>
      </p:sp>
      <p:sp>
        <p:nvSpPr>
          <p:cNvPr id="10" name="capability card 2"/>
          <p:cNvSpPr/>
          <p:nvPr/>
        </p:nvSpPr>
        <p:spPr>
          <a:xfrm>
            <a:off x="6355080" y="1188720"/>
            <a:ext cx="2286000" cy="1463040"/>
          </a:xfrm>
          <a:prstGeom prst="roundRect">
            <a:avLst>
              <a:gd name="adj" fmla="val 5000"/>
            </a:avLst>
          </a:prstGeom>
          <a:solidFill>
            <a:schemeClr val="bg2"/>
          </a:solidFill>
          <a:ln/>
          <a:effectLst>
            <a:outerShdw sx="100000" sy="100000" kx="0" ky="0" algn="bl" rotWithShape="0" blurRad="76200" dist="25400" dir="5400000">
              <a:srgbClr val="0F172A">
                <a:alpha val="12000"/>
              </a:srgbClr>
            </a:outerShdw>
          </a:effectLst>
        </p:spPr>
      </p:sp>
      <p:sp>
        <p:nvSpPr>
          <p:cNvPr id="11" name="capability 2 circle"/>
          <p:cNvSpPr/>
          <p:nvPr/>
        </p:nvSpPr>
        <p:spPr>
          <a:xfrm>
            <a:off x="6537960" y="1371600"/>
            <a:ext cx="502920" cy="502920"/>
          </a:xfrm>
          <a:prstGeom prst="ellipse">
            <a:avLst/>
          </a:prstGeom>
          <a:solidFill>
            <a:srgbClr val="0F766E"/>
          </a:solidFill>
          <a:ln/>
        </p:spPr>
      </p:sp>
      <p:pic>
        <p:nvPicPr>
          <p:cNvPr id="12" name="capability 2 icon" descr="preencoded.png">    </p:cNvPr>
          <p:cNvPicPr>
            <a:picLocks noChangeAspect="1"/>
          </p:cNvPicPr>
          <p:nvPr/>
        </p:nvPicPr>
        <p:blipFill>
          <a:blip r:embed="rId2"/>
          <a:stretch>
            <a:fillRect/>
          </a:stretch>
        </p:blipFill>
        <p:spPr>
          <a:xfrm>
            <a:off x="6668719" y="1502359"/>
            <a:ext cx="241402" cy="241402"/>
          </a:xfrm>
          <a:prstGeom prst="rect">
            <a:avLst/>
          </a:prstGeom>
        </p:spPr>
      </p:pic>
      <p:sp>
        <p:nvSpPr>
          <p:cNvPr id="13" name="capability title 2"/>
          <p:cNvSpPr txBox="1"/>
          <p:nvPr/>
        </p:nvSpPr>
        <p:spPr>
          <a:xfrm>
            <a:off x="7178040" y="1435608"/>
            <a:ext cx="1371600" cy="365760"/>
          </a:xfrm>
          <a:prstGeom prst="rect">
            <a:avLst/>
          </a:prstGeom>
          <a:noFill/>
          <a:ln/>
        </p:spPr>
        <p:txBody>
          <a:bodyPr wrap="square" lIns="0" tIns="0" rIns="0" bIns="0" rtlCol="0" anchor="t"/>
          <a:lstStyle/>
          <a:p>
            <a:pPr indent="0" marL="0">
              <a:buNone/>
            </a:pPr>
            <a:r>
              <a:rPr lang="en-US" sz="1500" b="1" dirty="0">
                <a:solidFill>
                  <a:schemeClr val="tx2"/>
                </a:solidFill>
              </a:rPr>
              <a:t>Appointments</a:t>
            </a:r>
            <a:endParaRPr lang="en-US" sz="1500" dirty="0"/>
          </a:p>
        </p:txBody>
      </p:sp>
      <p:sp>
        <p:nvSpPr>
          <p:cNvPr id="14" name="capability text 2"/>
          <p:cNvSpPr txBox="1"/>
          <p:nvPr/>
        </p:nvSpPr>
        <p:spPr>
          <a:xfrm>
            <a:off x="6537960" y="1965960"/>
            <a:ext cx="1920240" cy="594360"/>
          </a:xfrm>
          <a:prstGeom prst="rect">
            <a:avLst/>
          </a:prstGeom>
          <a:noFill/>
          <a:ln/>
        </p:spPr>
        <p:txBody>
          <a:bodyPr wrap="square" lIns="0" tIns="0" rIns="0" bIns="0" rtlCol="0" anchor="t"/>
          <a:lstStyle/>
          <a:p>
            <a:pPr indent="0" marL="0">
              <a:buNone/>
            </a:pPr>
            <a:r>
              <a:rPr lang="en-US" sz="1200" dirty="0">
                <a:solidFill>
                  <a:schemeClr val="tx1"/>
                </a:solidFill>
              </a:rPr>
              <a:t>Check slots, book, list and cancel visits</a:t>
            </a:r>
            <a:endParaRPr lang="en-US" sz="1200" dirty="0"/>
          </a:p>
        </p:txBody>
      </p:sp>
      <p:sp>
        <p:nvSpPr>
          <p:cNvPr id="15" name="capability card 3"/>
          <p:cNvSpPr/>
          <p:nvPr/>
        </p:nvSpPr>
        <p:spPr>
          <a:xfrm>
            <a:off x="3840480" y="2880360"/>
            <a:ext cx="2286000" cy="1463040"/>
          </a:xfrm>
          <a:prstGeom prst="roundRect">
            <a:avLst>
              <a:gd name="adj" fmla="val 5000"/>
            </a:avLst>
          </a:prstGeom>
          <a:solidFill>
            <a:schemeClr val="bg2"/>
          </a:solidFill>
          <a:ln/>
          <a:effectLst>
            <a:outerShdw sx="100000" sy="100000" kx="0" ky="0" algn="bl" rotWithShape="0" blurRad="76200" dist="25400" dir="5400000">
              <a:srgbClr val="0F172A">
                <a:alpha val="12000"/>
              </a:srgbClr>
            </a:outerShdw>
          </a:effectLst>
        </p:spPr>
      </p:sp>
      <p:sp>
        <p:nvSpPr>
          <p:cNvPr id="16" name="capability 3 circle"/>
          <p:cNvSpPr/>
          <p:nvPr/>
        </p:nvSpPr>
        <p:spPr>
          <a:xfrm>
            <a:off x="4023360" y="3063240"/>
            <a:ext cx="502920" cy="502920"/>
          </a:xfrm>
          <a:prstGeom prst="ellipse">
            <a:avLst/>
          </a:prstGeom>
          <a:solidFill>
            <a:srgbClr val="0F766E"/>
          </a:solidFill>
          <a:ln/>
        </p:spPr>
      </p:sp>
      <p:pic>
        <p:nvPicPr>
          <p:cNvPr id="17" name="capability 3 icon" descr="preencoded.png">    </p:cNvPr>
          <p:cNvPicPr>
            <a:picLocks noChangeAspect="1"/>
          </p:cNvPicPr>
          <p:nvPr/>
        </p:nvPicPr>
        <p:blipFill>
          <a:blip r:embed="rId3"/>
          <a:stretch>
            <a:fillRect/>
          </a:stretch>
        </p:blipFill>
        <p:spPr>
          <a:xfrm>
            <a:off x="4154119" y="3193999"/>
            <a:ext cx="241402" cy="241402"/>
          </a:xfrm>
          <a:prstGeom prst="rect">
            <a:avLst/>
          </a:prstGeom>
        </p:spPr>
      </p:pic>
      <p:sp>
        <p:nvSpPr>
          <p:cNvPr id="18" name="capability title 3"/>
          <p:cNvSpPr txBox="1"/>
          <p:nvPr/>
        </p:nvSpPr>
        <p:spPr>
          <a:xfrm>
            <a:off x="4663440" y="3127248"/>
            <a:ext cx="1371600" cy="365760"/>
          </a:xfrm>
          <a:prstGeom prst="rect">
            <a:avLst/>
          </a:prstGeom>
          <a:noFill/>
          <a:ln/>
        </p:spPr>
        <p:txBody>
          <a:bodyPr wrap="square" lIns="0" tIns="0" rIns="0" bIns="0" rtlCol="0" anchor="t"/>
          <a:lstStyle/>
          <a:p>
            <a:pPr indent="0" marL="0">
              <a:buNone/>
            </a:pPr>
            <a:r>
              <a:rPr lang="en-US" sz="1500" b="1" dirty="0">
                <a:solidFill>
                  <a:schemeClr val="tx2"/>
                </a:solidFill>
              </a:rPr>
              <a:t>Report summary</a:t>
            </a:r>
            <a:endParaRPr lang="en-US" sz="1500" dirty="0"/>
          </a:p>
        </p:txBody>
      </p:sp>
      <p:sp>
        <p:nvSpPr>
          <p:cNvPr id="19" name="capability text 3"/>
          <p:cNvSpPr txBox="1"/>
          <p:nvPr/>
        </p:nvSpPr>
        <p:spPr>
          <a:xfrm>
            <a:off x="4023360" y="3657600"/>
            <a:ext cx="1920240" cy="594360"/>
          </a:xfrm>
          <a:prstGeom prst="rect">
            <a:avLst/>
          </a:prstGeom>
          <a:noFill/>
          <a:ln/>
        </p:spPr>
        <p:txBody>
          <a:bodyPr wrap="square" lIns="0" tIns="0" rIns="0" bIns="0" rtlCol="0" anchor="t"/>
          <a:lstStyle/>
          <a:p>
            <a:pPr indent="0" marL="0">
              <a:buNone/>
            </a:pPr>
            <a:r>
              <a:rPr lang="en-US" sz="1200" dirty="0">
                <a:solidFill>
                  <a:schemeClr val="tx1"/>
                </a:solidFill>
              </a:rPr>
              <a:t>Parse lab values and flag abnormal results</a:t>
            </a:r>
            <a:endParaRPr lang="en-US" sz="1200" dirty="0"/>
          </a:p>
        </p:txBody>
      </p:sp>
      <p:sp>
        <p:nvSpPr>
          <p:cNvPr id="20" name="capability card 4"/>
          <p:cNvSpPr/>
          <p:nvPr/>
        </p:nvSpPr>
        <p:spPr>
          <a:xfrm>
            <a:off x="6355080" y="2880360"/>
            <a:ext cx="2286000" cy="1463040"/>
          </a:xfrm>
          <a:prstGeom prst="roundRect">
            <a:avLst>
              <a:gd name="adj" fmla="val 5000"/>
            </a:avLst>
          </a:prstGeom>
          <a:solidFill>
            <a:schemeClr val="bg2"/>
          </a:solidFill>
          <a:ln/>
          <a:effectLst>
            <a:outerShdw sx="100000" sy="100000" kx="0" ky="0" algn="bl" rotWithShape="0" blurRad="76200" dist="25400" dir="5400000">
              <a:srgbClr val="0F172A">
                <a:alpha val="12000"/>
              </a:srgbClr>
            </a:outerShdw>
          </a:effectLst>
        </p:spPr>
      </p:sp>
      <p:sp>
        <p:nvSpPr>
          <p:cNvPr id="21" name="capability 4 circle"/>
          <p:cNvSpPr/>
          <p:nvPr/>
        </p:nvSpPr>
        <p:spPr>
          <a:xfrm>
            <a:off x="6537960" y="3063240"/>
            <a:ext cx="502920" cy="502920"/>
          </a:xfrm>
          <a:prstGeom prst="ellipse">
            <a:avLst/>
          </a:prstGeom>
          <a:solidFill>
            <a:srgbClr val="0F766E"/>
          </a:solidFill>
          <a:ln/>
        </p:spPr>
      </p:sp>
      <p:pic>
        <p:nvPicPr>
          <p:cNvPr id="22" name="capability 4 icon" descr="preencoded.png">    </p:cNvPr>
          <p:cNvPicPr>
            <a:picLocks noChangeAspect="1"/>
          </p:cNvPicPr>
          <p:nvPr/>
        </p:nvPicPr>
        <p:blipFill>
          <a:blip r:embed="rId4"/>
          <a:stretch>
            <a:fillRect/>
          </a:stretch>
        </p:blipFill>
        <p:spPr>
          <a:xfrm>
            <a:off x="6668719" y="3193999"/>
            <a:ext cx="241402" cy="241402"/>
          </a:xfrm>
          <a:prstGeom prst="rect">
            <a:avLst/>
          </a:prstGeom>
        </p:spPr>
      </p:pic>
      <p:sp>
        <p:nvSpPr>
          <p:cNvPr id="23" name="capability title 4"/>
          <p:cNvSpPr txBox="1"/>
          <p:nvPr/>
        </p:nvSpPr>
        <p:spPr>
          <a:xfrm>
            <a:off x="7178040" y="3127248"/>
            <a:ext cx="1371600" cy="365760"/>
          </a:xfrm>
          <a:prstGeom prst="rect">
            <a:avLst/>
          </a:prstGeom>
          <a:noFill/>
          <a:ln/>
        </p:spPr>
        <p:txBody>
          <a:bodyPr wrap="square" lIns="0" tIns="0" rIns="0" bIns="0" rtlCol="0" anchor="t"/>
          <a:lstStyle/>
          <a:p>
            <a:pPr indent="0" marL="0">
              <a:buNone/>
            </a:pPr>
            <a:r>
              <a:rPr lang="en-US" sz="1500" b="1" dirty="0">
                <a:solidFill>
                  <a:schemeClr val="tx2"/>
                </a:solidFill>
              </a:rPr>
              <a:t>Preventive care</a:t>
            </a:r>
            <a:endParaRPr lang="en-US" sz="1500" dirty="0"/>
          </a:p>
        </p:txBody>
      </p:sp>
      <p:sp>
        <p:nvSpPr>
          <p:cNvPr id="24" name="capability text 4"/>
          <p:cNvSpPr txBox="1"/>
          <p:nvPr/>
        </p:nvSpPr>
        <p:spPr>
          <a:xfrm>
            <a:off x="6537960" y="3657600"/>
            <a:ext cx="1920240" cy="594360"/>
          </a:xfrm>
          <a:prstGeom prst="rect">
            <a:avLst/>
          </a:prstGeom>
          <a:noFill/>
          <a:ln/>
        </p:spPr>
        <p:txBody>
          <a:bodyPr wrap="square" lIns="0" tIns="0" rIns="0" bIns="0" rtlCol="0" anchor="t"/>
          <a:lstStyle/>
          <a:p>
            <a:pPr indent="0" marL="0">
              <a:buNone/>
            </a:pPr>
            <a:r>
              <a:rPr lang="en-US" sz="1200" dirty="0">
                <a:solidFill>
                  <a:schemeClr val="tx1"/>
                </a:solidFill>
              </a:rPr>
              <a:t>Lifestyle tips and age-based screenings</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MedQuAD: 14,978 expert medical Q&amp;A pairs</a:t>
            </a:r>
            <a:endParaRPr lang="en-US" sz="2800" dirty="0"/>
          </a:p>
        </p:txBody>
      </p:sp>
      <p:sp>
        <p:nvSpPr>
          <p:cNvPr id="3" name="raw pairs value"/>
          <p:cNvSpPr txBox="1"/>
          <p:nvPr/>
        </p:nvSpPr>
        <p:spPr>
          <a:xfrm>
            <a:off x="457200" y="1188720"/>
            <a:ext cx="2743200" cy="64008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16,407</a:t>
            </a:r>
            <a:endParaRPr lang="en-US" sz="4000" dirty="0"/>
          </a:p>
        </p:txBody>
      </p:sp>
      <p:sp>
        <p:nvSpPr>
          <p:cNvPr id="4" name="raw pairs label"/>
          <p:cNvSpPr txBox="1"/>
          <p:nvPr/>
        </p:nvSpPr>
        <p:spPr>
          <a:xfrm>
            <a:off x="457200" y="1847088"/>
            <a:ext cx="2743200" cy="411480"/>
          </a:xfrm>
          <a:prstGeom prst="rect">
            <a:avLst/>
          </a:prstGeom>
          <a:noFill/>
          <a:ln/>
        </p:spPr>
        <p:txBody>
          <a:bodyPr wrap="square" lIns="0" tIns="0" rIns="0" bIns="0" rtlCol="0" anchor="t"/>
          <a:lstStyle/>
          <a:p>
            <a:pPr indent="0" marL="0">
              <a:buNone/>
            </a:pPr>
            <a:r>
              <a:rPr lang="en-US" sz="1200" dirty="0">
                <a:solidFill>
                  <a:schemeClr val="accent4"/>
                </a:solidFill>
              </a:rPr>
              <a:t>raw Q&amp;A pairs from 12 NIH websites</a:t>
            </a:r>
            <a:endParaRPr lang="en-US" sz="1200" dirty="0"/>
          </a:p>
        </p:txBody>
      </p:sp>
      <p:sp>
        <p:nvSpPr>
          <p:cNvPr id="5" name="unique pairs value"/>
          <p:cNvSpPr txBox="1"/>
          <p:nvPr/>
        </p:nvSpPr>
        <p:spPr>
          <a:xfrm>
            <a:off x="457200" y="2286000"/>
            <a:ext cx="2743200" cy="64008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14,978</a:t>
            </a:r>
            <a:endParaRPr lang="en-US" sz="4000" dirty="0"/>
          </a:p>
        </p:txBody>
      </p:sp>
      <p:sp>
        <p:nvSpPr>
          <p:cNvPr id="6" name="unique pairs label"/>
          <p:cNvSpPr txBox="1"/>
          <p:nvPr/>
        </p:nvSpPr>
        <p:spPr>
          <a:xfrm>
            <a:off x="457200" y="2944368"/>
            <a:ext cx="2743200" cy="411480"/>
          </a:xfrm>
          <a:prstGeom prst="rect">
            <a:avLst/>
          </a:prstGeom>
          <a:noFill/>
          <a:ln/>
        </p:spPr>
        <p:txBody>
          <a:bodyPr wrap="square" lIns="0" tIns="0" rIns="0" bIns="0" rtlCol="0" anchor="t"/>
          <a:lstStyle/>
          <a:p>
            <a:pPr indent="0" marL="0">
              <a:buNone/>
            </a:pPr>
            <a:r>
              <a:rPr lang="en-US" sz="1200" dirty="0">
                <a:solidFill>
                  <a:schemeClr val="accent4"/>
                </a:solidFill>
              </a:rPr>
              <a:t>unique pairs after de-duplication</a:t>
            </a:r>
            <a:endParaRPr lang="en-US" sz="1200" dirty="0"/>
          </a:p>
        </p:txBody>
      </p:sp>
      <p:sp>
        <p:nvSpPr>
          <p:cNvPr id="7" name="question types value"/>
          <p:cNvSpPr txBox="1"/>
          <p:nvPr/>
        </p:nvSpPr>
        <p:spPr>
          <a:xfrm>
            <a:off x="457200" y="3383280"/>
            <a:ext cx="2743200" cy="64008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15</a:t>
            </a:r>
            <a:endParaRPr lang="en-US" sz="4000" dirty="0"/>
          </a:p>
        </p:txBody>
      </p:sp>
      <p:sp>
        <p:nvSpPr>
          <p:cNvPr id="8" name="question types label"/>
          <p:cNvSpPr txBox="1"/>
          <p:nvPr/>
        </p:nvSpPr>
        <p:spPr>
          <a:xfrm>
            <a:off x="457200" y="4041648"/>
            <a:ext cx="2743200" cy="411480"/>
          </a:xfrm>
          <a:prstGeom prst="rect">
            <a:avLst/>
          </a:prstGeom>
          <a:noFill/>
          <a:ln/>
        </p:spPr>
        <p:txBody>
          <a:bodyPr wrap="square" lIns="0" tIns="0" rIns="0" bIns="0" rtlCol="0" anchor="t"/>
          <a:lstStyle/>
          <a:p>
            <a:pPr indent="0" marL="0">
              <a:buNone/>
            </a:pPr>
            <a:r>
              <a:rPr lang="en-US" sz="1200" dirty="0">
                <a:solidFill>
                  <a:schemeClr val="accent4"/>
                </a:solidFill>
              </a:rPr>
              <a:t>question types (symptoms, treatment, ...)</a:t>
            </a:r>
            <a:endParaRPr lang="en-US" sz="1200" dirty="0"/>
          </a:p>
        </p:txBody>
      </p:sp>
      <p:graphicFrame>
        <p:nvGraphicFramePr>
          <p:cNvPr id="9" name="class distribution chart" descr=""/>
          <p:cNvGraphicFramePr/>
          <p:nvPr/>
        </p:nvGraphicFramePr>
        <p:xfrm>
          <a:off x="3383280" y="1097280"/>
          <a:ext cx="5303520" cy="356616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System architecture</a:t>
            </a:r>
            <a:endParaRPr lang="en-US" sz="2800" dirty="0"/>
          </a:p>
        </p:txBody>
      </p:sp>
      <p:sp>
        <p:nvSpPr>
          <p:cNvPr id="3" name="ui box"/>
          <p:cNvSpPr/>
          <p:nvPr/>
        </p:nvSpPr>
        <p:spPr>
          <a:xfrm>
            <a:off x="457200" y="1143000"/>
            <a:ext cx="1737360" cy="822960"/>
          </a:xfrm>
          <a:prstGeom prst="roundRect">
            <a:avLst>
              <a:gd name="adj" fmla="val 8889"/>
            </a:avLst>
          </a:prstGeom>
          <a:solidFill>
            <a:schemeClr val="bg2"/>
          </a:solidFill>
          <a:ln/>
        </p:spPr>
      </p:sp>
      <p:sp>
        <p:nvSpPr>
          <p:cNvPr id="4" name="ui box text"/>
          <p:cNvSpPr txBox="1"/>
          <p:nvPr/>
        </p:nvSpPr>
        <p:spPr>
          <a:xfrm>
            <a:off x="457200" y="1143000"/>
            <a:ext cx="1737360" cy="822960"/>
          </a:xfrm>
          <a:prstGeom prst="rect">
            <a:avLst/>
          </a:prstGeom>
          <a:noFill/>
          <a:ln/>
        </p:spPr>
        <p:txBody>
          <a:bodyPr wrap="square" lIns="635" tIns="635" rIns="635" bIns="635" rtlCol="0" anchor="ctr"/>
          <a:lstStyle/>
          <a:p>
            <a:pPr algn="ctr" indent="0" marL="0">
              <a:buNone/>
            </a:pPr>
            <a:r>
              <a:rPr lang="en-US" sz="1300" b="1" dirty="0">
                <a:solidFill>
                  <a:schemeClr val="tx2"/>
                </a:solidFill>
              </a:rPr>
              <a:t>Patient</a:t>
            </a:r>
            <a:endParaRPr lang="en-US" sz="1300" dirty="0"/>
          </a:p>
          <a:p>
            <a:pPr algn="ctr" indent="0" marL="0">
              <a:buNone/>
            </a:pPr>
            <a:r>
              <a:rPr lang="en-US" sz="1000" dirty="0">
                <a:solidFill>
                  <a:schemeClr val="tx2"/>
                </a:solidFill>
              </a:rPr>
              <a:t>Streamlit chat UI</a:t>
            </a:r>
            <a:endParaRPr lang="en-US" sz="1300" dirty="0"/>
          </a:p>
        </p:txBody>
      </p:sp>
      <p:sp>
        <p:nvSpPr>
          <p:cNvPr id="5" name="ui to agent arrow"/>
          <p:cNvSpPr/>
          <p:nvPr/>
        </p:nvSpPr>
        <p:spPr>
          <a:xfrm>
            <a:off x="2240280" y="1554480"/>
            <a:ext cx="548640" cy="0"/>
          </a:xfrm>
          <a:prstGeom prst="line">
            <a:avLst/>
          </a:prstGeom>
          <a:noFill/>
          <a:ln w="19050">
            <a:solidFill>
              <a:srgbClr val="64748B"/>
            </a:solidFill>
            <a:prstDash val="solid"/>
            <a:tailEnd type="triangle"/>
          </a:ln>
        </p:spPr>
      </p:sp>
      <p:sp>
        <p:nvSpPr>
          <p:cNvPr id="6" name="agent box"/>
          <p:cNvSpPr/>
          <p:nvPr/>
        </p:nvSpPr>
        <p:spPr>
          <a:xfrm>
            <a:off x="2834640" y="1051560"/>
            <a:ext cx="3474720" cy="1005840"/>
          </a:xfrm>
          <a:prstGeom prst="roundRect">
            <a:avLst>
              <a:gd name="adj" fmla="val 7273"/>
            </a:avLst>
          </a:prstGeom>
          <a:solidFill>
            <a:schemeClr val="tx2"/>
          </a:solidFill>
          <a:ln/>
        </p:spPr>
      </p:sp>
      <p:sp>
        <p:nvSpPr>
          <p:cNvPr id="7" name="agent box text"/>
          <p:cNvSpPr txBox="1"/>
          <p:nvPr/>
        </p:nvSpPr>
        <p:spPr>
          <a:xfrm>
            <a:off x="2834640" y="1051560"/>
            <a:ext cx="3474720" cy="1005840"/>
          </a:xfrm>
          <a:prstGeom prst="rect">
            <a:avLst/>
          </a:prstGeom>
          <a:noFill/>
          <a:ln/>
        </p:spPr>
        <p:txBody>
          <a:bodyPr wrap="square" lIns="635" tIns="635" rIns="635" bIns="635" rtlCol="0" anchor="ctr"/>
          <a:lstStyle/>
          <a:p>
            <a:pPr algn="ctr" indent="0" marL="0">
              <a:buNone/>
            </a:pPr>
            <a:r>
              <a:rPr lang="en-US" sz="1300" b="1" dirty="0">
                <a:solidFill>
                  <a:schemeClr val="bg1"/>
                </a:solidFill>
              </a:rPr>
              <a:t>Healthcare Agent</a:t>
            </a:r>
            <a:endParaRPr lang="en-US" sz="1300" dirty="0"/>
          </a:p>
          <a:p>
            <a:pPr algn="ctr" indent="0" marL="0">
              <a:buNone/>
            </a:pPr>
            <a:r>
              <a:rPr lang="en-US" sz="1000" dirty="0">
                <a:solidFill>
                  <a:schemeClr val="bg1"/>
                </a:solidFill>
              </a:rPr>
              <a:t>Safety check → Plan → Act → Observe → Respond</a:t>
            </a:r>
            <a:endParaRPr lang="en-US" sz="1300" dirty="0"/>
          </a:p>
        </p:txBody>
      </p:sp>
      <p:sp>
        <p:nvSpPr>
          <p:cNvPr id="8" name="agent to llm arrow"/>
          <p:cNvSpPr/>
          <p:nvPr/>
        </p:nvSpPr>
        <p:spPr>
          <a:xfrm>
            <a:off x="6355080" y="1554480"/>
            <a:ext cx="548640" cy="0"/>
          </a:xfrm>
          <a:prstGeom prst="line">
            <a:avLst/>
          </a:prstGeom>
          <a:noFill/>
          <a:ln w="19050">
            <a:solidFill>
              <a:srgbClr val="64748B"/>
            </a:solidFill>
            <a:prstDash val="solid"/>
            <a:tailEnd type="triangle"/>
          </a:ln>
        </p:spPr>
      </p:sp>
      <p:sp>
        <p:nvSpPr>
          <p:cNvPr id="9" name="llm box"/>
          <p:cNvSpPr/>
          <p:nvPr/>
        </p:nvSpPr>
        <p:spPr>
          <a:xfrm>
            <a:off x="6949440" y="1143000"/>
            <a:ext cx="1737360" cy="822960"/>
          </a:xfrm>
          <a:prstGeom prst="roundRect">
            <a:avLst>
              <a:gd name="adj" fmla="val 8889"/>
            </a:avLst>
          </a:prstGeom>
          <a:solidFill>
            <a:schemeClr val="accent3"/>
          </a:solidFill>
          <a:ln/>
        </p:spPr>
      </p:sp>
      <p:sp>
        <p:nvSpPr>
          <p:cNvPr id="10" name="llm box text"/>
          <p:cNvSpPr txBox="1"/>
          <p:nvPr/>
        </p:nvSpPr>
        <p:spPr>
          <a:xfrm>
            <a:off x="6949440" y="1143000"/>
            <a:ext cx="1737360" cy="822960"/>
          </a:xfrm>
          <a:prstGeom prst="rect">
            <a:avLst/>
          </a:prstGeom>
          <a:noFill/>
          <a:ln/>
        </p:spPr>
        <p:txBody>
          <a:bodyPr wrap="square" lIns="635" tIns="635" rIns="635" bIns="635" rtlCol="0" anchor="ctr"/>
          <a:lstStyle/>
          <a:p>
            <a:pPr algn="ctr" indent="0" marL="0">
              <a:buNone/>
            </a:pPr>
            <a:r>
              <a:rPr lang="en-US" sz="1300" b="1" dirty="0">
                <a:solidFill>
                  <a:schemeClr val="bg1"/>
                </a:solidFill>
              </a:rPr>
              <a:t>Gemini LLM</a:t>
            </a:r>
            <a:endParaRPr lang="en-US" sz="1300" dirty="0"/>
          </a:p>
          <a:p>
            <a:pPr algn="ctr" indent="0" marL="0">
              <a:buNone/>
            </a:pPr>
            <a:r>
              <a:rPr lang="en-US" sz="1000" dirty="0">
                <a:solidFill>
                  <a:schemeClr val="bg1"/>
                </a:solidFill>
              </a:rPr>
              <a:t>function calling</a:t>
            </a:r>
            <a:endParaRPr lang="en-US" sz="1300" dirty="0"/>
          </a:p>
        </p:txBody>
      </p:sp>
      <p:sp>
        <p:nvSpPr>
          <p:cNvPr id="11" name="agent to tools arrow"/>
          <p:cNvSpPr/>
          <p:nvPr/>
        </p:nvSpPr>
        <p:spPr>
          <a:xfrm>
            <a:off x="4572000" y="2103120"/>
            <a:ext cx="0" cy="411480"/>
          </a:xfrm>
          <a:prstGeom prst="line">
            <a:avLst/>
          </a:prstGeom>
          <a:noFill/>
          <a:ln w="19050">
            <a:solidFill>
              <a:srgbClr val="64748B"/>
            </a:solidFill>
            <a:prstDash val="solid"/>
            <a:tailEnd type="triangle"/>
          </a:ln>
        </p:spPr>
      </p:sp>
      <p:sp>
        <p:nvSpPr>
          <p:cNvPr id="12" name="tool box 1"/>
          <p:cNvSpPr/>
          <p:nvPr/>
        </p:nvSpPr>
        <p:spPr>
          <a:xfrm>
            <a:off x="457200" y="2560320"/>
            <a:ext cx="1517904" cy="777240"/>
          </a:xfrm>
          <a:prstGeom prst="roundRect">
            <a:avLst>
              <a:gd name="adj" fmla="val 9412"/>
            </a:avLst>
          </a:prstGeom>
          <a:solidFill>
            <a:schemeClr val="accent5"/>
          </a:solidFill>
          <a:ln/>
        </p:spPr>
      </p:sp>
      <p:sp>
        <p:nvSpPr>
          <p:cNvPr id="13" name="tool box 1 text"/>
          <p:cNvSpPr txBox="1"/>
          <p:nvPr/>
        </p:nvSpPr>
        <p:spPr>
          <a:xfrm>
            <a:off x="457200" y="2560320"/>
            <a:ext cx="1517904" cy="777240"/>
          </a:xfrm>
          <a:prstGeom prst="rect">
            <a:avLst/>
          </a:prstGeom>
          <a:noFill/>
          <a:ln/>
        </p:spPr>
        <p:txBody>
          <a:bodyPr wrap="square" lIns="635" tIns="635" rIns="635" bIns="635" rtlCol="0" anchor="ctr"/>
          <a:lstStyle/>
          <a:p>
            <a:pPr algn="ctr" indent="0" marL="0">
              <a:buNone/>
            </a:pPr>
            <a:r>
              <a:rPr lang="en-US" sz="1300" b="1" dirty="0">
                <a:solidFill>
                  <a:schemeClr val="tx2"/>
                </a:solidFill>
              </a:rPr>
              <a:t>Medical</a:t>
            </a:r>
            <a:endParaRPr lang="en-US" sz="1300" dirty="0"/>
          </a:p>
          <a:p>
            <a:pPr algn="ctr" indent="0" marL="0">
              <a:buNone/>
            </a:pPr>
            <a:r>
              <a:rPr lang="en-US" sz="1300" b="1" dirty="0">
                <a:solidFill>
                  <a:schemeClr val="tx2"/>
                </a:solidFill>
              </a:rPr>
              <a:t>knowledge search</a:t>
            </a:r>
            <a:endParaRPr lang="en-US" sz="1300" dirty="0"/>
          </a:p>
        </p:txBody>
      </p:sp>
      <p:sp>
        <p:nvSpPr>
          <p:cNvPr id="14" name="tool box 2"/>
          <p:cNvSpPr/>
          <p:nvPr/>
        </p:nvSpPr>
        <p:spPr>
          <a:xfrm>
            <a:off x="2121408" y="2560320"/>
            <a:ext cx="1517904" cy="777240"/>
          </a:xfrm>
          <a:prstGeom prst="roundRect">
            <a:avLst>
              <a:gd name="adj" fmla="val 9412"/>
            </a:avLst>
          </a:prstGeom>
          <a:solidFill>
            <a:schemeClr val="accent5"/>
          </a:solidFill>
          <a:ln/>
        </p:spPr>
      </p:sp>
      <p:sp>
        <p:nvSpPr>
          <p:cNvPr id="15" name="tool box 2 text"/>
          <p:cNvSpPr txBox="1"/>
          <p:nvPr/>
        </p:nvSpPr>
        <p:spPr>
          <a:xfrm>
            <a:off x="2121408" y="2560320"/>
            <a:ext cx="1517904" cy="777240"/>
          </a:xfrm>
          <a:prstGeom prst="rect">
            <a:avLst/>
          </a:prstGeom>
          <a:noFill/>
          <a:ln/>
        </p:spPr>
        <p:txBody>
          <a:bodyPr wrap="square" lIns="635" tIns="635" rIns="635" bIns="635" rtlCol="0" anchor="ctr"/>
          <a:lstStyle/>
          <a:p>
            <a:pPr algn="ctr" indent="0" marL="0">
              <a:buNone/>
            </a:pPr>
            <a:r>
              <a:rPr lang="en-US" sz="1300" b="1" dirty="0">
                <a:solidFill>
                  <a:schemeClr val="tx2"/>
                </a:solidFill>
              </a:rPr>
              <a:t>Check</a:t>
            </a:r>
            <a:endParaRPr lang="en-US" sz="1300" dirty="0"/>
          </a:p>
          <a:p>
            <a:pPr algn="ctr" indent="0" marL="0">
              <a:buNone/>
            </a:pPr>
            <a:r>
              <a:rPr lang="en-US" sz="1300" b="1" dirty="0">
                <a:solidFill>
                  <a:schemeClr val="tx2"/>
                </a:solidFill>
              </a:rPr>
              <a:t>availability</a:t>
            </a:r>
            <a:endParaRPr lang="en-US" sz="1300" dirty="0"/>
          </a:p>
        </p:txBody>
      </p:sp>
      <p:sp>
        <p:nvSpPr>
          <p:cNvPr id="16" name="tool box 3"/>
          <p:cNvSpPr/>
          <p:nvPr/>
        </p:nvSpPr>
        <p:spPr>
          <a:xfrm>
            <a:off x="3785616" y="2560320"/>
            <a:ext cx="1517904" cy="777240"/>
          </a:xfrm>
          <a:prstGeom prst="roundRect">
            <a:avLst>
              <a:gd name="adj" fmla="val 9412"/>
            </a:avLst>
          </a:prstGeom>
          <a:solidFill>
            <a:schemeClr val="accent5"/>
          </a:solidFill>
          <a:ln/>
        </p:spPr>
      </p:sp>
      <p:sp>
        <p:nvSpPr>
          <p:cNvPr id="17" name="tool box 3 text"/>
          <p:cNvSpPr txBox="1"/>
          <p:nvPr/>
        </p:nvSpPr>
        <p:spPr>
          <a:xfrm>
            <a:off x="3785616" y="2560320"/>
            <a:ext cx="1517904" cy="777240"/>
          </a:xfrm>
          <a:prstGeom prst="rect">
            <a:avLst/>
          </a:prstGeom>
          <a:noFill/>
          <a:ln/>
        </p:spPr>
        <p:txBody>
          <a:bodyPr wrap="square" lIns="635" tIns="635" rIns="635" bIns="635" rtlCol="0" anchor="ctr"/>
          <a:lstStyle/>
          <a:p>
            <a:pPr algn="ctr" indent="0" marL="0">
              <a:buNone/>
            </a:pPr>
            <a:r>
              <a:rPr lang="en-US" sz="1300" b="1" dirty="0">
                <a:solidFill>
                  <a:schemeClr val="tx2"/>
                </a:solidFill>
              </a:rPr>
              <a:t>Book / list /</a:t>
            </a:r>
            <a:endParaRPr lang="en-US" sz="1300" dirty="0"/>
          </a:p>
          <a:p>
            <a:pPr algn="ctr" indent="0" marL="0">
              <a:buNone/>
            </a:pPr>
            <a:r>
              <a:rPr lang="en-US" sz="1300" b="1" dirty="0">
                <a:solidFill>
                  <a:schemeClr val="tx2"/>
                </a:solidFill>
              </a:rPr>
              <a:t>cancel</a:t>
            </a:r>
            <a:endParaRPr lang="en-US" sz="1300" dirty="0"/>
          </a:p>
        </p:txBody>
      </p:sp>
      <p:sp>
        <p:nvSpPr>
          <p:cNvPr id="18" name="tool box 4"/>
          <p:cNvSpPr/>
          <p:nvPr/>
        </p:nvSpPr>
        <p:spPr>
          <a:xfrm>
            <a:off x="5449824" y="2560320"/>
            <a:ext cx="1517904" cy="777240"/>
          </a:xfrm>
          <a:prstGeom prst="roundRect">
            <a:avLst>
              <a:gd name="adj" fmla="val 9412"/>
            </a:avLst>
          </a:prstGeom>
          <a:solidFill>
            <a:schemeClr val="accent5"/>
          </a:solidFill>
          <a:ln/>
        </p:spPr>
      </p:sp>
      <p:sp>
        <p:nvSpPr>
          <p:cNvPr id="19" name="tool box 4 text"/>
          <p:cNvSpPr txBox="1"/>
          <p:nvPr/>
        </p:nvSpPr>
        <p:spPr>
          <a:xfrm>
            <a:off x="5449824" y="2560320"/>
            <a:ext cx="1517904" cy="777240"/>
          </a:xfrm>
          <a:prstGeom prst="rect">
            <a:avLst/>
          </a:prstGeom>
          <a:noFill/>
          <a:ln/>
        </p:spPr>
        <p:txBody>
          <a:bodyPr wrap="square" lIns="635" tIns="635" rIns="635" bIns="635" rtlCol="0" anchor="ctr"/>
          <a:lstStyle/>
          <a:p>
            <a:pPr algn="ctr" indent="0" marL="0">
              <a:buNone/>
            </a:pPr>
            <a:r>
              <a:rPr lang="en-US" sz="1300" b="1" dirty="0">
                <a:solidFill>
                  <a:schemeClr val="tx2"/>
                </a:solidFill>
              </a:rPr>
              <a:t>Summarize</a:t>
            </a:r>
            <a:endParaRPr lang="en-US" sz="1300" dirty="0"/>
          </a:p>
          <a:p>
            <a:pPr algn="ctr" indent="0" marL="0">
              <a:buNone/>
            </a:pPr>
            <a:r>
              <a:rPr lang="en-US" sz="1300" b="1" dirty="0">
                <a:solidFill>
                  <a:schemeClr val="tx2"/>
                </a:solidFill>
              </a:rPr>
              <a:t>report</a:t>
            </a:r>
            <a:endParaRPr lang="en-US" sz="1300" dirty="0"/>
          </a:p>
        </p:txBody>
      </p:sp>
      <p:sp>
        <p:nvSpPr>
          <p:cNvPr id="20" name="tool box 5"/>
          <p:cNvSpPr/>
          <p:nvPr/>
        </p:nvSpPr>
        <p:spPr>
          <a:xfrm>
            <a:off x="7114032" y="2560320"/>
            <a:ext cx="1517904" cy="777240"/>
          </a:xfrm>
          <a:prstGeom prst="roundRect">
            <a:avLst>
              <a:gd name="adj" fmla="val 9412"/>
            </a:avLst>
          </a:prstGeom>
          <a:solidFill>
            <a:schemeClr val="accent5"/>
          </a:solidFill>
          <a:ln/>
        </p:spPr>
      </p:sp>
      <p:sp>
        <p:nvSpPr>
          <p:cNvPr id="21" name="tool box 5 text"/>
          <p:cNvSpPr txBox="1"/>
          <p:nvPr/>
        </p:nvSpPr>
        <p:spPr>
          <a:xfrm>
            <a:off x="7114032" y="2560320"/>
            <a:ext cx="1517904" cy="777240"/>
          </a:xfrm>
          <a:prstGeom prst="rect">
            <a:avLst/>
          </a:prstGeom>
          <a:noFill/>
          <a:ln/>
        </p:spPr>
        <p:txBody>
          <a:bodyPr wrap="square" lIns="635" tIns="635" rIns="635" bIns="635" rtlCol="0" anchor="ctr"/>
          <a:lstStyle/>
          <a:p>
            <a:pPr algn="ctr" indent="0" marL="0">
              <a:buNone/>
            </a:pPr>
            <a:r>
              <a:rPr lang="en-US" sz="1300" b="1" dirty="0">
                <a:solidFill>
                  <a:schemeClr val="tx2"/>
                </a:solidFill>
              </a:rPr>
              <a:t>Preventive</a:t>
            </a:r>
            <a:endParaRPr lang="en-US" sz="1300" dirty="0"/>
          </a:p>
          <a:p>
            <a:pPr algn="ctr" indent="0" marL="0">
              <a:buNone/>
            </a:pPr>
            <a:r>
              <a:rPr lang="en-US" sz="1300" b="1" dirty="0">
                <a:solidFill>
                  <a:schemeClr val="tx2"/>
                </a:solidFill>
              </a:rPr>
              <a:t>tips</a:t>
            </a:r>
            <a:endParaRPr lang="en-US" sz="1300" dirty="0"/>
          </a:p>
        </p:txBody>
      </p:sp>
      <p:sp>
        <p:nvSpPr>
          <p:cNvPr id="22" name="tool to kb arrow"/>
          <p:cNvSpPr/>
          <p:nvPr/>
        </p:nvSpPr>
        <p:spPr>
          <a:xfrm>
            <a:off x="1216152" y="3383280"/>
            <a:ext cx="0" cy="411480"/>
          </a:xfrm>
          <a:prstGeom prst="line">
            <a:avLst/>
          </a:prstGeom>
          <a:noFill/>
          <a:ln w="19050">
            <a:solidFill>
              <a:srgbClr val="64748B"/>
            </a:solidFill>
            <a:prstDash val="solid"/>
            <a:tailEnd type="triangle"/>
          </a:ln>
        </p:spPr>
      </p:sp>
      <p:sp>
        <p:nvSpPr>
          <p:cNvPr id="23" name="tool to store arrow"/>
          <p:cNvSpPr/>
          <p:nvPr/>
        </p:nvSpPr>
        <p:spPr>
          <a:xfrm>
            <a:off x="4544568" y="3383280"/>
            <a:ext cx="0" cy="411480"/>
          </a:xfrm>
          <a:prstGeom prst="line">
            <a:avLst/>
          </a:prstGeom>
          <a:noFill/>
          <a:ln w="19050">
            <a:solidFill>
              <a:srgbClr val="64748B"/>
            </a:solidFill>
            <a:prstDash val="solid"/>
            <a:tailEnd type="triangle"/>
          </a:ln>
        </p:spPr>
      </p:sp>
      <p:sp>
        <p:nvSpPr>
          <p:cNvPr id="24" name="kb box"/>
          <p:cNvSpPr/>
          <p:nvPr/>
        </p:nvSpPr>
        <p:spPr>
          <a:xfrm>
            <a:off x="457200" y="3840480"/>
            <a:ext cx="2743200" cy="685800"/>
          </a:xfrm>
          <a:prstGeom prst="roundRect">
            <a:avLst>
              <a:gd name="adj" fmla="val 10667"/>
            </a:avLst>
          </a:prstGeom>
          <a:solidFill>
            <a:schemeClr val="accent1"/>
          </a:solidFill>
          <a:ln/>
        </p:spPr>
      </p:sp>
      <p:sp>
        <p:nvSpPr>
          <p:cNvPr id="25" name="kb box text"/>
          <p:cNvSpPr txBox="1"/>
          <p:nvPr/>
        </p:nvSpPr>
        <p:spPr>
          <a:xfrm>
            <a:off x="457200" y="3840480"/>
            <a:ext cx="2743200" cy="685800"/>
          </a:xfrm>
          <a:prstGeom prst="rect">
            <a:avLst/>
          </a:prstGeom>
          <a:noFill/>
          <a:ln/>
        </p:spPr>
        <p:txBody>
          <a:bodyPr wrap="square" lIns="635" tIns="635" rIns="635" bIns="635" rtlCol="0" anchor="ctr"/>
          <a:lstStyle/>
          <a:p>
            <a:pPr algn="ctr" indent="0" marL="0">
              <a:buNone/>
            </a:pPr>
            <a:r>
              <a:rPr lang="en-US" sz="1300" b="1" dirty="0">
                <a:solidFill>
                  <a:schemeClr val="bg1"/>
                </a:solidFill>
              </a:rPr>
              <a:t>MedQuAD models</a:t>
            </a:r>
            <a:endParaRPr lang="en-US" sz="1300" dirty="0"/>
          </a:p>
          <a:p>
            <a:pPr algn="ctr" indent="0" marL="0">
              <a:buNone/>
            </a:pPr>
            <a:r>
              <a:rPr lang="en-US" sz="1000" dirty="0">
                <a:solidFill>
                  <a:schemeClr val="bg1"/>
                </a:solidFill>
              </a:rPr>
              <a:t>TF-IDF retriever + question-type classifier</a:t>
            </a:r>
            <a:endParaRPr lang="en-US" sz="1300" dirty="0"/>
          </a:p>
        </p:txBody>
      </p:sp>
      <p:sp>
        <p:nvSpPr>
          <p:cNvPr id="26" name="store box"/>
          <p:cNvSpPr/>
          <p:nvPr/>
        </p:nvSpPr>
        <p:spPr>
          <a:xfrm>
            <a:off x="3383280" y="3840480"/>
            <a:ext cx="2377440" cy="685800"/>
          </a:xfrm>
          <a:prstGeom prst="roundRect">
            <a:avLst>
              <a:gd name="adj" fmla="val 10667"/>
            </a:avLst>
          </a:prstGeom>
          <a:solidFill>
            <a:schemeClr val="accent4"/>
          </a:solidFill>
          <a:ln/>
        </p:spPr>
      </p:sp>
      <p:sp>
        <p:nvSpPr>
          <p:cNvPr id="27" name="store box text"/>
          <p:cNvSpPr txBox="1"/>
          <p:nvPr/>
        </p:nvSpPr>
        <p:spPr>
          <a:xfrm>
            <a:off x="3383280" y="3840480"/>
            <a:ext cx="2377440" cy="685800"/>
          </a:xfrm>
          <a:prstGeom prst="rect">
            <a:avLst/>
          </a:prstGeom>
          <a:noFill/>
          <a:ln/>
        </p:spPr>
        <p:txBody>
          <a:bodyPr wrap="square" lIns="635" tIns="635" rIns="635" bIns="635" rtlCol="0" anchor="ctr"/>
          <a:lstStyle/>
          <a:p>
            <a:pPr algn="ctr" indent="0" marL="0">
              <a:buNone/>
            </a:pPr>
            <a:r>
              <a:rPr lang="en-US" sz="1300" b="1" dirty="0">
                <a:solidFill>
                  <a:schemeClr val="bg1"/>
                </a:solidFill>
              </a:rPr>
              <a:t>Appointment store</a:t>
            </a:r>
            <a:endParaRPr lang="en-US" sz="1300" dirty="0"/>
          </a:p>
          <a:p>
            <a:pPr algn="ctr" indent="0" marL="0">
              <a:buNone/>
            </a:pPr>
            <a:r>
              <a:rPr lang="en-US" sz="1000" dirty="0">
                <a:solidFill>
                  <a:schemeClr val="bg1"/>
                </a:solidFill>
              </a:rPr>
              <a:t>JSON, 10 specialties</a:t>
            </a:r>
            <a:endParaRPr lang="en-US" sz="1300" dirty="0"/>
          </a:p>
        </p:txBody>
      </p:sp>
      <p:sp>
        <p:nvSpPr>
          <p:cNvPr id="28" name="fallback box"/>
          <p:cNvSpPr/>
          <p:nvPr/>
        </p:nvSpPr>
        <p:spPr>
          <a:xfrm>
            <a:off x="5943600" y="3840480"/>
            <a:ext cx="2743200" cy="685800"/>
          </a:xfrm>
          <a:prstGeom prst="roundRect">
            <a:avLst>
              <a:gd name="adj" fmla="val 10667"/>
            </a:avLst>
          </a:prstGeom>
          <a:solidFill>
            <a:schemeClr val="bg2"/>
          </a:solidFill>
          <a:ln/>
        </p:spPr>
      </p:sp>
      <p:sp>
        <p:nvSpPr>
          <p:cNvPr id="29" name="fallback box text"/>
          <p:cNvSpPr txBox="1"/>
          <p:nvPr/>
        </p:nvSpPr>
        <p:spPr>
          <a:xfrm>
            <a:off x="5943600" y="3840480"/>
            <a:ext cx="2743200" cy="685800"/>
          </a:xfrm>
          <a:prstGeom prst="rect">
            <a:avLst/>
          </a:prstGeom>
          <a:noFill/>
          <a:ln/>
        </p:spPr>
        <p:txBody>
          <a:bodyPr wrap="square" lIns="635" tIns="635" rIns="635" bIns="635" rtlCol="0" anchor="ctr"/>
          <a:lstStyle/>
          <a:p>
            <a:pPr algn="ctr" indent="0" marL="0">
              <a:buNone/>
            </a:pPr>
            <a:r>
              <a:rPr lang="en-US" sz="1300" b="1" dirty="0">
                <a:solidFill>
                  <a:schemeClr val="tx2"/>
                </a:solidFill>
              </a:rPr>
              <a:t>Offline fallback</a:t>
            </a:r>
            <a:endParaRPr lang="en-US" sz="1300" dirty="0"/>
          </a:p>
          <a:p>
            <a:pPr algn="ctr" indent="0" marL="0">
              <a:buNone/>
            </a:pPr>
            <a:r>
              <a:rPr lang="en-US" sz="1000" dirty="0">
                <a:solidFill>
                  <a:schemeClr val="tx2"/>
                </a:solidFill>
              </a:rPr>
              <a:t>rule planner when no API key</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The agent plans, acts, observes and responds</a:t>
            </a:r>
            <a:endParaRPr lang="en-US" sz="2800" dirty="0"/>
          </a:p>
        </p:txBody>
      </p:sp>
      <p:sp>
        <p:nvSpPr>
          <p:cNvPr id="3" name="loop step 1 circle"/>
          <p:cNvSpPr/>
          <p:nvPr/>
        </p:nvSpPr>
        <p:spPr>
          <a:xfrm>
            <a:off x="1005840" y="1143000"/>
            <a:ext cx="731520" cy="731520"/>
          </a:xfrm>
          <a:prstGeom prst="ellipse">
            <a:avLst/>
          </a:prstGeom>
          <a:solidFill>
            <a:srgbClr val="0F766E"/>
          </a:solidFill>
          <a:ln/>
        </p:spPr>
      </p:sp>
      <p:pic>
        <p:nvPicPr>
          <p:cNvPr id="4" name="loop step 1 icon" descr="preencoded.png">    </p:cNvPr>
          <p:cNvPicPr>
            <a:picLocks noChangeAspect="1"/>
          </p:cNvPicPr>
          <p:nvPr/>
        </p:nvPicPr>
        <p:blipFill>
          <a:blip r:embed="rId1"/>
          <a:stretch>
            <a:fillRect/>
          </a:stretch>
        </p:blipFill>
        <p:spPr>
          <a:xfrm>
            <a:off x="1196035" y="1333195"/>
            <a:ext cx="351130" cy="351130"/>
          </a:xfrm>
          <a:prstGeom prst="rect">
            <a:avLst/>
          </a:prstGeom>
        </p:spPr>
      </p:pic>
      <p:sp>
        <p:nvSpPr>
          <p:cNvPr id="5" name="loop title 1"/>
          <p:cNvSpPr txBox="1"/>
          <p:nvPr/>
        </p:nvSpPr>
        <p:spPr>
          <a:xfrm>
            <a:off x="457200" y="1965960"/>
            <a:ext cx="1828800" cy="365760"/>
          </a:xfrm>
          <a:prstGeom prst="rect">
            <a:avLst/>
          </a:prstGeom>
          <a:noFill/>
          <a:ln/>
        </p:spPr>
        <p:txBody>
          <a:bodyPr wrap="square" lIns="0" tIns="0" rIns="0" bIns="0" rtlCol="0" anchor="t"/>
          <a:lstStyle/>
          <a:p>
            <a:pPr algn="ctr" indent="0" marL="0">
              <a:buNone/>
            </a:pPr>
            <a:r>
              <a:rPr lang="en-US" sz="1600" b="1" dirty="0">
                <a:solidFill>
                  <a:schemeClr val="tx2"/>
                </a:solidFill>
              </a:rPr>
              <a:t>1. Plan</a:t>
            </a:r>
            <a:endParaRPr lang="en-US" sz="1600" dirty="0"/>
          </a:p>
        </p:txBody>
      </p:sp>
      <p:sp>
        <p:nvSpPr>
          <p:cNvPr id="6" name="loop text 1"/>
          <p:cNvSpPr txBox="1"/>
          <p:nvPr/>
        </p:nvSpPr>
        <p:spPr>
          <a:xfrm>
            <a:off x="457200" y="2331720"/>
            <a:ext cx="1828800" cy="640080"/>
          </a:xfrm>
          <a:prstGeom prst="rect">
            <a:avLst/>
          </a:prstGeom>
          <a:noFill/>
          <a:ln/>
        </p:spPr>
        <p:txBody>
          <a:bodyPr wrap="square" lIns="0" tIns="0" rIns="0" bIns="0" rtlCol="0" anchor="t"/>
          <a:lstStyle/>
          <a:p>
            <a:pPr algn="ctr" indent="0" marL="0">
              <a:buNone/>
            </a:pPr>
            <a:r>
              <a:rPr lang="en-US" sz="1200" dirty="0">
                <a:solidFill>
                  <a:schemeClr val="tx1"/>
                </a:solidFill>
              </a:rPr>
              <a:t>Split the request into sub-tasks and order them</a:t>
            </a:r>
            <a:endParaRPr lang="en-US" sz="1200" dirty="0"/>
          </a:p>
        </p:txBody>
      </p:sp>
      <p:sp>
        <p:nvSpPr>
          <p:cNvPr id="7" name="loop arrow 1"/>
          <p:cNvSpPr/>
          <p:nvPr/>
        </p:nvSpPr>
        <p:spPr>
          <a:xfrm>
            <a:off x="1828800" y="1508760"/>
            <a:ext cx="685800" cy="0"/>
          </a:xfrm>
          <a:prstGeom prst="line">
            <a:avLst/>
          </a:prstGeom>
          <a:noFill/>
          <a:ln w="25400">
            <a:solidFill>
              <a:srgbClr val="14B8A6"/>
            </a:solidFill>
            <a:prstDash val="solid"/>
            <a:tailEnd type="triangle"/>
          </a:ln>
        </p:spPr>
      </p:sp>
      <p:sp>
        <p:nvSpPr>
          <p:cNvPr id="8" name="loop step 2 circle"/>
          <p:cNvSpPr/>
          <p:nvPr/>
        </p:nvSpPr>
        <p:spPr>
          <a:xfrm>
            <a:off x="3127248" y="1143000"/>
            <a:ext cx="731520" cy="731520"/>
          </a:xfrm>
          <a:prstGeom prst="ellipse">
            <a:avLst/>
          </a:prstGeom>
          <a:solidFill>
            <a:srgbClr val="0F766E"/>
          </a:solidFill>
          <a:ln/>
        </p:spPr>
      </p:sp>
      <p:pic>
        <p:nvPicPr>
          <p:cNvPr id="9" name="loop step 2 icon" descr="preencoded.png">    </p:cNvPr>
          <p:cNvPicPr>
            <a:picLocks noChangeAspect="1"/>
          </p:cNvPicPr>
          <p:nvPr/>
        </p:nvPicPr>
        <p:blipFill>
          <a:blip r:embed="rId2"/>
          <a:stretch>
            <a:fillRect/>
          </a:stretch>
        </p:blipFill>
        <p:spPr>
          <a:xfrm>
            <a:off x="3317443" y="1333195"/>
            <a:ext cx="351130" cy="351130"/>
          </a:xfrm>
          <a:prstGeom prst="rect">
            <a:avLst/>
          </a:prstGeom>
        </p:spPr>
      </p:pic>
      <p:sp>
        <p:nvSpPr>
          <p:cNvPr id="10" name="loop title 2"/>
          <p:cNvSpPr txBox="1"/>
          <p:nvPr/>
        </p:nvSpPr>
        <p:spPr>
          <a:xfrm>
            <a:off x="2578608" y="1965960"/>
            <a:ext cx="1828800" cy="365760"/>
          </a:xfrm>
          <a:prstGeom prst="rect">
            <a:avLst/>
          </a:prstGeom>
          <a:noFill/>
          <a:ln/>
        </p:spPr>
        <p:txBody>
          <a:bodyPr wrap="square" lIns="0" tIns="0" rIns="0" bIns="0" rtlCol="0" anchor="t"/>
          <a:lstStyle/>
          <a:p>
            <a:pPr algn="ctr" indent="0" marL="0">
              <a:buNone/>
            </a:pPr>
            <a:r>
              <a:rPr lang="en-US" sz="1600" b="1" dirty="0">
                <a:solidFill>
                  <a:schemeClr val="tx2"/>
                </a:solidFill>
              </a:rPr>
              <a:t>2. Act</a:t>
            </a:r>
            <a:endParaRPr lang="en-US" sz="1600" dirty="0"/>
          </a:p>
        </p:txBody>
      </p:sp>
      <p:sp>
        <p:nvSpPr>
          <p:cNvPr id="11" name="loop text 2"/>
          <p:cNvSpPr txBox="1"/>
          <p:nvPr/>
        </p:nvSpPr>
        <p:spPr>
          <a:xfrm>
            <a:off x="2578608" y="2331720"/>
            <a:ext cx="1828800" cy="640080"/>
          </a:xfrm>
          <a:prstGeom prst="rect">
            <a:avLst/>
          </a:prstGeom>
          <a:noFill/>
          <a:ln/>
        </p:spPr>
        <p:txBody>
          <a:bodyPr wrap="square" lIns="0" tIns="0" rIns="0" bIns="0" rtlCol="0" anchor="t"/>
          <a:lstStyle/>
          <a:p>
            <a:pPr algn="ctr" indent="0" marL="0">
              <a:buNone/>
            </a:pPr>
            <a:r>
              <a:rPr lang="en-US" sz="1200" dirty="0">
                <a:solidFill>
                  <a:schemeClr val="tx1"/>
                </a:solidFill>
              </a:rPr>
              <a:t>Call the right tool with extracted arguments</a:t>
            </a:r>
            <a:endParaRPr lang="en-US" sz="1200" dirty="0"/>
          </a:p>
        </p:txBody>
      </p:sp>
      <p:sp>
        <p:nvSpPr>
          <p:cNvPr id="12" name="loop arrow 2"/>
          <p:cNvSpPr/>
          <p:nvPr/>
        </p:nvSpPr>
        <p:spPr>
          <a:xfrm>
            <a:off x="3950208" y="1508760"/>
            <a:ext cx="685800" cy="0"/>
          </a:xfrm>
          <a:prstGeom prst="line">
            <a:avLst/>
          </a:prstGeom>
          <a:noFill/>
          <a:ln w="25400">
            <a:solidFill>
              <a:srgbClr val="14B8A6"/>
            </a:solidFill>
            <a:prstDash val="solid"/>
            <a:tailEnd type="triangle"/>
          </a:ln>
        </p:spPr>
      </p:sp>
      <p:sp>
        <p:nvSpPr>
          <p:cNvPr id="13" name="loop step 3 circle"/>
          <p:cNvSpPr/>
          <p:nvPr/>
        </p:nvSpPr>
        <p:spPr>
          <a:xfrm>
            <a:off x="5248656" y="1143000"/>
            <a:ext cx="731520" cy="731520"/>
          </a:xfrm>
          <a:prstGeom prst="ellipse">
            <a:avLst/>
          </a:prstGeom>
          <a:solidFill>
            <a:srgbClr val="0F766E"/>
          </a:solidFill>
          <a:ln/>
        </p:spPr>
      </p:sp>
      <p:pic>
        <p:nvPicPr>
          <p:cNvPr id="14" name="loop step 3 icon" descr="preencoded.png">    </p:cNvPr>
          <p:cNvPicPr>
            <a:picLocks noChangeAspect="1"/>
          </p:cNvPicPr>
          <p:nvPr/>
        </p:nvPicPr>
        <p:blipFill>
          <a:blip r:embed="rId3"/>
          <a:stretch>
            <a:fillRect/>
          </a:stretch>
        </p:blipFill>
        <p:spPr>
          <a:xfrm>
            <a:off x="5438851" y="1333195"/>
            <a:ext cx="351130" cy="351130"/>
          </a:xfrm>
          <a:prstGeom prst="rect">
            <a:avLst/>
          </a:prstGeom>
        </p:spPr>
      </p:pic>
      <p:sp>
        <p:nvSpPr>
          <p:cNvPr id="15" name="loop title 3"/>
          <p:cNvSpPr txBox="1"/>
          <p:nvPr/>
        </p:nvSpPr>
        <p:spPr>
          <a:xfrm>
            <a:off x="4700016" y="1965960"/>
            <a:ext cx="1828800" cy="365760"/>
          </a:xfrm>
          <a:prstGeom prst="rect">
            <a:avLst/>
          </a:prstGeom>
          <a:noFill/>
          <a:ln/>
        </p:spPr>
        <p:txBody>
          <a:bodyPr wrap="square" lIns="0" tIns="0" rIns="0" bIns="0" rtlCol="0" anchor="t"/>
          <a:lstStyle/>
          <a:p>
            <a:pPr algn="ctr" indent="0" marL="0">
              <a:buNone/>
            </a:pPr>
            <a:r>
              <a:rPr lang="en-US" sz="1600" b="1" dirty="0">
                <a:solidFill>
                  <a:schemeClr val="tx2"/>
                </a:solidFill>
              </a:rPr>
              <a:t>3. Observe</a:t>
            </a:r>
            <a:endParaRPr lang="en-US" sz="1600" dirty="0"/>
          </a:p>
        </p:txBody>
      </p:sp>
      <p:sp>
        <p:nvSpPr>
          <p:cNvPr id="16" name="loop text 3"/>
          <p:cNvSpPr txBox="1"/>
          <p:nvPr/>
        </p:nvSpPr>
        <p:spPr>
          <a:xfrm>
            <a:off x="4700016" y="2331720"/>
            <a:ext cx="1828800" cy="640080"/>
          </a:xfrm>
          <a:prstGeom prst="rect">
            <a:avLst/>
          </a:prstGeom>
          <a:noFill/>
          <a:ln/>
        </p:spPr>
        <p:txBody>
          <a:bodyPr wrap="square" lIns="0" tIns="0" rIns="0" bIns="0" rtlCol="0" anchor="t"/>
          <a:lstStyle/>
          <a:p>
            <a:pPr algn="ctr" indent="0" marL="0">
              <a:buNone/>
            </a:pPr>
            <a:r>
              <a:rPr lang="en-US" sz="1200" dirty="0">
                <a:solidFill>
                  <a:schemeClr val="tx1"/>
                </a:solidFill>
              </a:rPr>
              <a:t>Use tool output to decide the next step</a:t>
            </a:r>
            <a:endParaRPr lang="en-US" sz="1200" dirty="0"/>
          </a:p>
        </p:txBody>
      </p:sp>
      <p:sp>
        <p:nvSpPr>
          <p:cNvPr id="17" name="loop arrow 3"/>
          <p:cNvSpPr/>
          <p:nvPr/>
        </p:nvSpPr>
        <p:spPr>
          <a:xfrm>
            <a:off x="6071616" y="1508760"/>
            <a:ext cx="685800" cy="0"/>
          </a:xfrm>
          <a:prstGeom prst="line">
            <a:avLst/>
          </a:prstGeom>
          <a:noFill/>
          <a:ln w="25400">
            <a:solidFill>
              <a:srgbClr val="14B8A6"/>
            </a:solidFill>
            <a:prstDash val="solid"/>
            <a:tailEnd type="triangle"/>
          </a:ln>
        </p:spPr>
      </p:sp>
      <p:sp>
        <p:nvSpPr>
          <p:cNvPr id="18" name="loop step 4 circle"/>
          <p:cNvSpPr/>
          <p:nvPr/>
        </p:nvSpPr>
        <p:spPr>
          <a:xfrm>
            <a:off x="7370064" y="1143000"/>
            <a:ext cx="731520" cy="731520"/>
          </a:xfrm>
          <a:prstGeom prst="ellipse">
            <a:avLst/>
          </a:prstGeom>
          <a:solidFill>
            <a:srgbClr val="0F766E"/>
          </a:solidFill>
          <a:ln/>
        </p:spPr>
      </p:sp>
      <p:pic>
        <p:nvPicPr>
          <p:cNvPr id="19" name="loop step 4 icon" descr="preencoded.png">    </p:cNvPr>
          <p:cNvPicPr>
            <a:picLocks noChangeAspect="1"/>
          </p:cNvPicPr>
          <p:nvPr/>
        </p:nvPicPr>
        <p:blipFill>
          <a:blip r:embed="rId4"/>
          <a:stretch>
            <a:fillRect/>
          </a:stretch>
        </p:blipFill>
        <p:spPr>
          <a:xfrm>
            <a:off x="7560259" y="1333195"/>
            <a:ext cx="351130" cy="351130"/>
          </a:xfrm>
          <a:prstGeom prst="rect">
            <a:avLst/>
          </a:prstGeom>
        </p:spPr>
      </p:pic>
      <p:sp>
        <p:nvSpPr>
          <p:cNvPr id="20" name="loop title 4"/>
          <p:cNvSpPr txBox="1"/>
          <p:nvPr/>
        </p:nvSpPr>
        <p:spPr>
          <a:xfrm>
            <a:off x="6821424" y="1965960"/>
            <a:ext cx="1828800" cy="365760"/>
          </a:xfrm>
          <a:prstGeom prst="rect">
            <a:avLst/>
          </a:prstGeom>
          <a:noFill/>
          <a:ln/>
        </p:spPr>
        <p:txBody>
          <a:bodyPr wrap="square" lIns="0" tIns="0" rIns="0" bIns="0" rtlCol="0" anchor="t"/>
          <a:lstStyle/>
          <a:p>
            <a:pPr algn="ctr" indent="0" marL="0">
              <a:buNone/>
            </a:pPr>
            <a:r>
              <a:rPr lang="en-US" sz="1600" b="1" dirty="0">
                <a:solidFill>
                  <a:schemeClr val="tx2"/>
                </a:solidFill>
              </a:rPr>
              <a:t>4. Respond</a:t>
            </a:r>
            <a:endParaRPr lang="en-US" sz="1600" dirty="0"/>
          </a:p>
        </p:txBody>
      </p:sp>
      <p:sp>
        <p:nvSpPr>
          <p:cNvPr id="21" name="loop text 4"/>
          <p:cNvSpPr txBox="1"/>
          <p:nvPr/>
        </p:nvSpPr>
        <p:spPr>
          <a:xfrm>
            <a:off x="6821424" y="2331720"/>
            <a:ext cx="1828800" cy="640080"/>
          </a:xfrm>
          <a:prstGeom prst="rect">
            <a:avLst/>
          </a:prstGeom>
          <a:noFill/>
          <a:ln/>
        </p:spPr>
        <p:txBody>
          <a:bodyPr wrap="square" lIns="0" tIns="0" rIns="0" bIns="0" rtlCol="0" anchor="t"/>
          <a:lstStyle/>
          <a:p>
            <a:pPr algn="ctr" indent="0" marL="0">
              <a:buNone/>
            </a:pPr>
            <a:r>
              <a:rPr lang="en-US" sz="1200" dirty="0">
                <a:solidFill>
                  <a:schemeClr val="tx1"/>
                </a:solidFill>
              </a:rPr>
              <a:t>Merge results into one grounded, safe reply</a:t>
            </a:r>
            <a:endParaRPr lang="en-US" sz="1200" dirty="0"/>
          </a:p>
        </p:txBody>
      </p:sp>
      <p:sp>
        <p:nvSpPr>
          <p:cNvPr id="22" name="example card"/>
          <p:cNvSpPr/>
          <p:nvPr/>
        </p:nvSpPr>
        <p:spPr>
          <a:xfrm>
            <a:off x="457200" y="3154680"/>
            <a:ext cx="8229600" cy="1371600"/>
          </a:xfrm>
          <a:prstGeom prst="roundRect">
            <a:avLst>
              <a:gd name="adj" fmla="val 5333"/>
            </a:avLst>
          </a:prstGeom>
          <a:solidFill>
            <a:schemeClr val="bg2"/>
          </a:solidFill>
          <a:ln/>
          <a:effectLst>
            <a:outerShdw sx="100000" sy="100000" kx="0" ky="0" algn="bl" rotWithShape="0" blurRad="76200" dist="25400" dir="5400000">
              <a:srgbClr val="0F172A">
                <a:alpha val="12000"/>
              </a:srgbClr>
            </a:outerShdw>
          </a:effectLst>
        </p:spPr>
      </p:sp>
      <p:sp>
        <p:nvSpPr>
          <p:cNvPr id="23" name="example label"/>
          <p:cNvSpPr txBox="1"/>
          <p:nvPr/>
        </p:nvSpPr>
        <p:spPr>
          <a:xfrm>
            <a:off x="685800" y="3291840"/>
            <a:ext cx="1828800" cy="274320"/>
          </a:xfrm>
          <a:prstGeom prst="rect">
            <a:avLst/>
          </a:prstGeom>
          <a:noFill/>
          <a:ln/>
        </p:spPr>
        <p:txBody>
          <a:bodyPr wrap="square" lIns="0" tIns="0" rIns="0" bIns="0" rtlCol="0" anchor="t"/>
          <a:lstStyle/>
          <a:p>
            <a:pPr indent="0" marL="0">
              <a:buNone/>
            </a:pPr>
            <a:r>
              <a:rPr lang="en-US" sz="1200" b="1" dirty="0">
                <a:solidFill>
                  <a:schemeClr val="accent3"/>
                </a:solidFill>
              </a:rPr>
              <a:t>Example</a:t>
            </a:r>
            <a:endParaRPr lang="en-US" sz="1200" dirty="0"/>
          </a:p>
        </p:txBody>
      </p:sp>
      <p:sp>
        <p:nvSpPr>
          <p:cNvPr id="24" name="example text"/>
          <p:cNvSpPr txBox="1"/>
          <p:nvPr/>
        </p:nvSpPr>
        <p:spPr>
          <a:xfrm>
            <a:off x="685800" y="3611880"/>
            <a:ext cx="7772400" cy="822960"/>
          </a:xfrm>
          <a:prstGeom prst="rect">
            <a:avLst/>
          </a:prstGeom>
          <a:noFill/>
          <a:ln/>
        </p:spPr>
        <p:txBody>
          <a:bodyPr wrap="square" lIns="0" tIns="0" rIns="0" bIns="0" rtlCol="0" anchor="t"/>
          <a:lstStyle/>
          <a:p>
            <a:pPr indent="0" marL="0">
              <a:buNone/>
            </a:pPr>
            <a:r>
              <a:rPr lang="en-US" sz="1300" b="1" dirty="0">
                <a:solidFill>
                  <a:schemeClr val="tx1"/>
                </a:solidFill>
              </a:rPr>
              <a:t>“Summarize my report and book the right doctor”</a:t>
            </a:r>
            <a:endParaRPr lang="en-US" sz="1300" dirty="0"/>
          </a:p>
          <a:p>
            <a:pPr indent="0" marL="0">
              <a:buNone/>
            </a:pPr>
            <a:r>
              <a:rPr lang="en-US" sz="1300" dirty="0">
                <a:solidFill>
                  <a:schemeClr val="tx1"/>
                </a:solidFill>
              </a:rPr>
              <a:t>summarize_health_report → sugar &amp; HbA1c high → reason: specialty = Endocrinology → book_appointment → reply with summary + booking ID</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Three models work together</a:t>
            </a:r>
            <a:endParaRPr lang="en-US" sz="2800" dirty="0"/>
          </a:p>
        </p:txBody>
      </p:sp>
      <p:sp>
        <p:nvSpPr>
          <p:cNvPr id="3" name="model card 1"/>
          <p:cNvSpPr/>
          <p:nvPr/>
        </p:nvSpPr>
        <p:spPr>
          <a:xfrm>
            <a:off x="457200" y="1188720"/>
            <a:ext cx="2606040" cy="3291840"/>
          </a:xfrm>
          <a:prstGeom prst="roundRect">
            <a:avLst>
              <a:gd name="adj" fmla="val 2807"/>
            </a:avLst>
          </a:prstGeom>
          <a:solidFill>
            <a:schemeClr val="bg2"/>
          </a:solidFill>
          <a:ln/>
          <a:effectLst>
            <a:outerShdw sx="100000" sy="100000" kx="0" ky="0" algn="bl" rotWithShape="0" blurRad="76200" dist="25400" dir="5400000">
              <a:srgbClr val="0F172A">
                <a:alpha val="12000"/>
              </a:srgbClr>
            </a:outerShdw>
          </a:effectLst>
        </p:spPr>
      </p:sp>
      <p:sp>
        <p:nvSpPr>
          <p:cNvPr id="4" name="model 1 circle"/>
          <p:cNvSpPr/>
          <p:nvPr/>
        </p:nvSpPr>
        <p:spPr>
          <a:xfrm>
            <a:off x="685800" y="1371600"/>
            <a:ext cx="594360" cy="594360"/>
          </a:xfrm>
          <a:prstGeom prst="ellipse">
            <a:avLst/>
          </a:prstGeom>
          <a:solidFill>
            <a:srgbClr val="0F766E"/>
          </a:solidFill>
          <a:ln/>
        </p:spPr>
      </p:sp>
      <p:pic>
        <p:nvPicPr>
          <p:cNvPr id="5" name="model 1 icon" descr="preencoded.png">    </p:cNvPr>
          <p:cNvPicPr>
            <a:picLocks noChangeAspect="1"/>
          </p:cNvPicPr>
          <p:nvPr/>
        </p:nvPicPr>
        <p:blipFill>
          <a:blip r:embed="rId1"/>
          <a:stretch>
            <a:fillRect/>
          </a:stretch>
        </p:blipFill>
        <p:spPr>
          <a:xfrm>
            <a:off x="840334" y="1526134"/>
            <a:ext cx="285293" cy="285293"/>
          </a:xfrm>
          <a:prstGeom prst="rect">
            <a:avLst/>
          </a:prstGeom>
        </p:spPr>
      </p:pic>
      <p:sp>
        <p:nvSpPr>
          <p:cNvPr id="6" name="model title 1"/>
          <p:cNvSpPr txBox="1"/>
          <p:nvPr/>
        </p:nvSpPr>
        <p:spPr>
          <a:xfrm>
            <a:off x="685800" y="2103120"/>
            <a:ext cx="2194560" cy="457200"/>
          </a:xfrm>
          <a:prstGeom prst="rect">
            <a:avLst/>
          </a:prstGeom>
          <a:noFill/>
          <a:ln/>
        </p:spPr>
        <p:txBody>
          <a:bodyPr wrap="square" lIns="0" tIns="0" rIns="0" bIns="0" rtlCol="0" anchor="t"/>
          <a:lstStyle/>
          <a:p>
            <a:pPr indent="0" marL="0">
              <a:buNone/>
            </a:pPr>
            <a:r>
              <a:rPr lang="en-US" sz="1600" b="1" dirty="0">
                <a:solidFill>
                  <a:schemeClr val="tx2"/>
                </a:solidFill>
              </a:rPr>
              <a:t>Hybrid TF-IDF retriever</a:t>
            </a:r>
            <a:endParaRPr lang="en-US" sz="1600" dirty="0"/>
          </a:p>
        </p:txBody>
      </p:sp>
      <p:sp>
        <p:nvSpPr>
          <p:cNvPr id="7" name="model bullets 1"/>
          <p:cNvSpPr txBox="1"/>
          <p:nvPr/>
        </p:nvSpPr>
        <p:spPr>
          <a:xfrm>
            <a:off x="685800" y="2651760"/>
            <a:ext cx="2194560" cy="16459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Word 1-2-grams + character 3-5-grams</a:t>
            </a:r>
            <a:endParaRPr lang="en-US" sz="1300" dirty="0"/>
          </a:p>
          <a:p>
            <a:pPr marL="342900" indent="-342900">
              <a:spcAft>
                <a:spcPts val="600"/>
              </a:spcAft>
              <a:buSzPct val="100000"/>
              <a:buChar char="•"/>
            </a:pPr>
            <a:r>
              <a:rPr lang="en-US" sz="1300" dirty="0">
                <a:solidFill>
                  <a:schemeClr val="tx1"/>
                </a:solidFill>
              </a:rPr>
              <a:t>Cosine similarity over 14,978 questions</a:t>
            </a:r>
            <a:endParaRPr lang="en-US" sz="1300" dirty="0"/>
          </a:p>
          <a:p>
            <a:pPr marL="342900" indent="-342900">
              <a:spcAft>
                <a:spcPts val="600"/>
              </a:spcAft>
              <a:buSzPct val="100000"/>
              <a:buChar char="•"/>
            </a:pPr>
            <a:r>
              <a:rPr lang="en-US" sz="1300" dirty="0">
                <a:solidFill>
                  <a:schemeClr val="tx1"/>
                </a:solidFill>
              </a:rPr>
              <a:t>Returns top-k passages for RAG</a:t>
            </a:r>
            <a:endParaRPr lang="en-US" sz="1300" dirty="0"/>
          </a:p>
        </p:txBody>
      </p:sp>
      <p:sp>
        <p:nvSpPr>
          <p:cNvPr id="8" name="model card 2"/>
          <p:cNvSpPr/>
          <p:nvPr/>
        </p:nvSpPr>
        <p:spPr>
          <a:xfrm>
            <a:off x="3264408" y="1188720"/>
            <a:ext cx="2606040" cy="3291840"/>
          </a:xfrm>
          <a:prstGeom prst="roundRect">
            <a:avLst>
              <a:gd name="adj" fmla="val 2807"/>
            </a:avLst>
          </a:prstGeom>
          <a:solidFill>
            <a:schemeClr val="bg2"/>
          </a:solidFill>
          <a:ln/>
          <a:effectLst>
            <a:outerShdw sx="100000" sy="100000" kx="0" ky="0" algn="bl" rotWithShape="0" blurRad="76200" dist="25400" dir="5400000">
              <a:srgbClr val="0F172A">
                <a:alpha val="12000"/>
              </a:srgbClr>
            </a:outerShdw>
          </a:effectLst>
        </p:spPr>
      </p:sp>
      <p:sp>
        <p:nvSpPr>
          <p:cNvPr id="9" name="model 2 circle"/>
          <p:cNvSpPr/>
          <p:nvPr/>
        </p:nvSpPr>
        <p:spPr>
          <a:xfrm>
            <a:off x="3493008" y="1371600"/>
            <a:ext cx="594360" cy="594360"/>
          </a:xfrm>
          <a:prstGeom prst="ellipse">
            <a:avLst/>
          </a:prstGeom>
          <a:solidFill>
            <a:srgbClr val="0F766E"/>
          </a:solidFill>
          <a:ln/>
        </p:spPr>
      </p:sp>
      <p:pic>
        <p:nvPicPr>
          <p:cNvPr id="10" name="model 2 icon" descr="preencoded.png">    </p:cNvPr>
          <p:cNvPicPr>
            <a:picLocks noChangeAspect="1"/>
          </p:cNvPicPr>
          <p:nvPr/>
        </p:nvPicPr>
        <p:blipFill>
          <a:blip r:embed="rId2"/>
          <a:stretch>
            <a:fillRect/>
          </a:stretch>
        </p:blipFill>
        <p:spPr>
          <a:xfrm>
            <a:off x="3647542" y="1526134"/>
            <a:ext cx="285293" cy="285293"/>
          </a:xfrm>
          <a:prstGeom prst="rect">
            <a:avLst/>
          </a:prstGeom>
        </p:spPr>
      </p:pic>
      <p:sp>
        <p:nvSpPr>
          <p:cNvPr id="11" name="model title 2"/>
          <p:cNvSpPr txBox="1"/>
          <p:nvPr/>
        </p:nvSpPr>
        <p:spPr>
          <a:xfrm>
            <a:off x="3493008" y="2103120"/>
            <a:ext cx="2194560" cy="457200"/>
          </a:xfrm>
          <a:prstGeom prst="rect">
            <a:avLst/>
          </a:prstGeom>
          <a:noFill/>
          <a:ln/>
        </p:spPr>
        <p:txBody>
          <a:bodyPr wrap="square" lIns="0" tIns="0" rIns="0" bIns="0" rtlCol="0" anchor="t"/>
          <a:lstStyle/>
          <a:p>
            <a:pPr indent="0" marL="0">
              <a:buNone/>
            </a:pPr>
            <a:r>
              <a:rPr lang="en-US" sz="1600" b="1" dirty="0">
                <a:solidFill>
                  <a:schemeClr val="tx2"/>
                </a:solidFill>
              </a:rPr>
              <a:t>Question-type classifier</a:t>
            </a:r>
            <a:endParaRPr lang="en-US" sz="1600" dirty="0"/>
          </a:p>
        </p:txBody>
      </p:sp>
      <p:sp>
        <p:nvSpPr>
          <p:cNvPr id="12" name="model bullets 2"/>
          <p:cNvSpPr txBox="1"/>
          <p:nvPr/>
        </p:nvSpPr>
        <p:spPr>
          <a:xfrm>
            <a:off x="3493008" y="2651760"/>
            <a:ext cx="2194560" cy="16459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TF-IDF + Logistic Regression</a:t>
            </a:r>
            <a:endParaRPr lang="en-US" sz="1300" dirty="0"/>
          </a:p>
          <a:p>
            <a:pPr marL="342900" indent="-342900">
              <a:spcAft>
                <a:spcPts val="600"/>
              </a:spcAft>
              <a:buSzPct val="100000"/>
              <a:buChar char="•"/>
            </a:pPr>
            <a:r>
              <a:rPr lang="en-US" sz="1300" dirty="0">
                <a:solidFill>
                  <a:schemeClr val="tx1"/>
                </a:solidFill>
              </a:rPr>
              <a:t>15 classes, balanced class weights</a:t>
            </a:r>
            <a:endParaRPr lang="en-US" sz="1300" dirty="0"/>
          </a:p>
          <a:p>
            <a:pPr marL="342900" indent="-342900">
              <a:spcAft>
                <a:spcPts val="600"/>
              </a:spcAft>
              <a:buSzPct val="100000"/>
              <a:buChar char="•"/>
            </a:pPr>
            <a:r>
              <a:rPr lang="en-US" sz="1300" dirty="0">
                <a:solidFill>
                  <a:schemeClr val="tx1"/>
                </a:solidFill>
              </a:rPr>
              <a:t>Compared with Naive Bayes and SVM</a:t>
            </a:r>
            <a:endParaRPr lang="en-US" sz="1300" dirty="0"/>
          </a:p>
        </p:txBody>
      </p:sp>
      <p:sp>
        <p:nvSpPr>
          <p:cNvPr id="13" name="model card 3"/>
          <p:cNvSpPr/>
          <p:nvPr/>
        </p:nvSpPr>
        <p:spPr>
          <a:xfrm>
            <a:off x="6071616" y="1188720"/>
            <a:ext cx="2606040" cy="3291840"/>
          </a:xfrm>
          <a:prstGeom prst="roundRect">
            <a:avLst>
              <a:gd name="adj" fmla="val 2807"/>
            </a:avLst>
          </a:prstGeom>
          <a:solidFill>
            <a:schemeClr val="bg2"/>
          </a:solidFill>
          <a:ln/>
          <a:effectLst>
            <a:outerShdw sx="100000" sy="100000" kx="0" ky="0" algn="bl" rotWithShape="0" blurRad="76200" dist="25400" dir="5400000">
              <a:srgbClr val="0F172A">
                <a:alpha val="12000"/>
              </a:srgbClr>
            </a:outerShdw>
          </a:effectLst>
        </p:spPr>
      </p:sp>
      <p:sp>
        <p:nvSpPr>
          <p:cNvPr id="14" name="model 3 circle"/>
          <p:cNvSpPr/>
          <p:nvPr/>
        </p:nvSpPr>
        <p:spPr>
          <a:xfrm>
            <a:off x="6300216" y="1371600"/>
            <a:ext cx="594360" cy="594360"/>
          </a:xfrm>
          <a:prstGeom prst="ellipse">
            <a:avLst/>
          </a:prstGeom>
          <a:solidFill>
            <a:srgbClr val="0F766E"/>
          </a:solidFill>
          <a:ln/>
        </p:spPr>
      </p:sp>
      <p:pic>
        <p:nvPicPr>
          <p:cNvPr id="15" name="model 3 icon" descr="preencoded.png">    </p:cNvPr>
          <p:cNvPicPr>
            <a:picLocks noChangeAspect="1"/>
          </p:cNvPicPr>
          <p:nvPr/>
        </p:nvPicPr>
        <p:blipFill>
          <a:blip r:embed="rId3"/>
          <a:stretch>
            <a:fillRect/>
          </a:stretch>
        </p:blipFill>
        <p:spPr>
          <a:xfrm>
            <a:off x="6454750" y="1526134"/>
            <a:ext cx="285293" cy="285293"/>
          </a:xfrm>
          <a:prstGeom prst="rect">
            <a:avLst/>
          </a:prstGeom>
        </p:spPr>
      </p:pic>
      <p:sp>
        <p:nvSpPr>
          <p:cNvPr id="16" name="model title 3"/>
          <p:cNvSpPr txBox="1"/>
          <p:nvPr/>
        </p:nvSpPr>
        <p:spPr>
          <a:xfrm>
            <a:off x="6300216" y="2103120"/>
            <a:ext cx="2194560" cy="457200"/>
          </a:xfrm>
          <a:prstGeom prst="rect">
            <a:avLst/>
          </a:prstGeom>
          <a:noFill/>
          <a:ln/>
        </p:spPr>
        <p:txBody>
          <a:bodyPr wrap="square" lIns="0" tIns="0" rIns="0" bIns="0" rtlCol="0" anchor="t"/>
          <a:lstStyle/>
          <a:p>
            <a:pPr indent="0" marL="0">
              <a:buNone/>
            </a:pPr>
            <a:r>
              <a:rPr lang="en-US" sz="1600" b="1" dirty="0">
                <a:solidFill>
                  <a:schemeClr val="tx2"/>
                </a:solidFill>
              </a:rPr>
              <a:t>Gemini LLM agent</a:t>
            </a:r>
            <a:endParaRPr lang="en-US" sz="1600" dirty="0"/>
          </a:p>
        </p:txBody>
      </p:sp>
      <p:sp>
        <p:nvSpPr>
          <p:cNvPr id="17" name="model bullets 3"/>
          <p:cNvSpPr txBox="1"/>
          <p:nvPr/>
        </p:nvSpPr>
        <p:spPr>
          <a:xfrm>
            <a:off x="6300216" y="2651760"/>
            <a:ext cx="2194560" cy="16459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Function calling over 7 tools</a:t>
            </a:r>
            <a:endParaRPr lang="en-US" sz="1300" dirty="0"/>
          </a:p>
          <a:p>
            <a:pPr marL="342900" indent="-342900">
              <a:spcAft>
                <a:spcPts val="600"/>
              </a:spcAft>
              <a:buSzPct val="100000"/>
              <a:buChar char="•"/>
            </a:pPr>
            <a:r>
              <a:rPr lang="en-US" sz="1300" dirty="0">
                <a:solidFill>
                  <a:schemeClr val="tx1"/>
                </a:solidFill>
              </a:rPr>
              <a:t>Answers only from retrieved passages</a:t>
            </a:r>
            <a:endParaRPr lang="en-US" sz="1300" dirty="0"/>
          </a:p>
          <a:p>
            <a:pPr marL="342900" indent="-342900">
              <a:spcAft>
                <a:spcPts val="600"/>
              </a:spcAft>
              <a:buSzPct val="100000"/>
              <a:buChar char="•"/>
            </a:pPr>
            <a:r>
              <a:rPr lang="en-US" sz="1300" dirty="0">
                <a:solidFill>
                  <a:schemeClr val="tx1"/>
                </a:solidFill>
              </a:rPr>
              <a:t>Offline rule planner as fallback</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Classifier aces MedQuAD's fixed templates</a:t>
            </a:r>
            <a:endParaRPr lang="en-US" sz="2800" dirty="0"/>
          </a:p>
        </p:txBody>
      </p:sp>
      <p:graphicFrame>
        <p:nvGraphicFramePr>
          <p:cNvPr id="3" name="classifier chart" descr=""/>
          <p:cNvGraphicFramePr/>
          <p:nvPr/>
        </p:nvGraphicFramePr>
        <p:xfrm>
          <a:off x="457200" y="1097280"/>
          <a:ext cx="4937760" cy="3474720"/>
        </p:xfrm>
        <a:graphic xmlns:a="http://schemas.openxmlformats.org/drawingml/2006/main">
          <a:graphicData uri="http://schemas.openxmlformats.org/drawingml/2006/chart">
            <c:chart xmlns:c="http://schemas.openxmlformats.org/drawingml/2006/chart" r:id="rId1"/>
          </a:graphicData>
        </a:graphic>
      </p:graphicFrame>
      <p:sp>
        <p:nvSpPr>
          <p:cNvPr id="4" name="caveat card"/>
          <p:cNvSpPr/>
          <p:nvPr/>
        </p:nvSpPr>
        <p:spPr>
          <a:xfrm>
            <a:off x="5669280" y="1188720"/>
            <a:ext cx="3017520" cy="3291840"/>
          </a:xfrm>
          <a:prstGeom prst="roundRect">
            <a:avLst>
              <a:gd name="adj" fmla="val 2424"/>
            </a:avLst>
          </a:prstGeom>
          <a:solidFill>
            <a:schemeClr val="bg2"/>
          </a:solidFill>
          <a:ln/>
          <a:effectLst>
            <a:outerShdw sx="100000" sy="100000" kx="0" ky="0" algn="bl" rotWithShape="0" blurRad="76200" dist="25400" dir="5400000">
              <a:srgbClr val="0F172A">
                <a:alpha val="12000"/>
              </a:srgbClr>
            </a:outerShdw>
          </a:effectLst>
        </p:spPr>
      </p:sp>
      <p:sp>
        <p:nvSpPr>
          <p:cNvPr id="5" name="caveat label"/>
          <p:cNvSpPr txBox="1"/>
          <p:nvPr/>
        </p:nvSpPr>
        <p:spPr>
          <a:xfrm>
            <a:off x="5897880" y="1371600"/>
            <a:ext cx="2560320" cy="320040"/>
          </a:xfrm>
          <a:prstGeom prst="rect">
            <a:avLst/>
          </a:prstGeom>
          <a:noFill/>
          <a:ln/>
        </p:spPr>
        <p:txBody>
          <a:bodyPr wrap="square" lIns="0" tIns="0" rIns="0" bIns="0" rtlCol="0" anchor="t"/>
          <a:lstStyle/>
          <a:p>
            <a:pPr indent="0" marL="0">
              <a:buNone/>
            </a:pPr>
            <a:r>
              <a:rPr lang="en-US" sz="1400" b="1" dirty="0">
                <a:solidFill>
                  <a:schemeClr val="accent3"/>
                </a:solidFill>
              </a:rPr>
              <a:t>Reality check</a:t>
            </a:r>
            <a:endParaRPr lang="en-US" sz="1400" dirty="0"/>
          </a:p>
        </p:txBody>
      </p:sp>
      <p:sp>
        <p:nvSpPr>
          <p:cNvPr id="6" name="caveat value"/>
          <p:cNvSpPr txBox="1"/>
          <p:nvPr/>
        </p:nvSpPr>
        <p:spPr>
          <a:xfrm>
            <a:off x="5897880" y="1737360"/>
            <a:ext cx="2560320" cy="685800"/>
          </a:xfrm>
          <a:prstGeom prst="rect">
            <a:avLst/>
          </a:prstGeom>
          <a:noFill/>
          <a:ln/>
        </p:spPr>
        <p:txBody>
          <a:bodyPr wrap="square" lIns="0" tIns="0" rIns="0" bIns="0" rtlCol="0" anchor="t"/>
          <a:lstStyle/>
          <a:p>
            <a:pPr indent="0" marL="0">
              <a:buNone/>
            </a:pPr>
            <a:r>
              <a:rPr lang="en-US" sz="4000" b="1" dirty="0">
                <a:solidFill>
                  <a:schemeClr val="accent3"/>
                </a:solidFill>
                <a:latin typeface="Cambria" pitchFamily="34" charset="0"/>
                <a:ea typeface="Cambria" pitchFamily="34" charset="-122"/>
                <a:cs typeface="Cambria" pitchFamily="34" charset="-120"/>
              </a:rPr>
              <a:t>43.3%</a:t>
            </a:r>
            <a:endParaRPr lang="en-US" sz="4000" dirty="0"/>
          </a:p>
        </p:txBody>
      </p:sp>
      <p:sp>
        <p:nvSpPr>
          <p:cNvPr id="7" name="caveat text"/>
          <p:cNvSpPr txBox="1"/>
          <p:nvPr/>
        </p:nvSpPr>
        <p:spPr>
          <a:xfrm>
            <a:off x="5897880" y="2468880"/>
            <a:ext cx="2560320" cy="1828800"/>
          </a:xfrm>
          <a:prstGeom prst="rect">
            <a:avLst/>
          </a:prstGeom>
          <a:noFill/>
          <a:ln/>
        </p:spPr>
        <p:txBody>
          <a:bodyPr wrap="square" lIns="0" tIns="0" rIns="0" bIns="0" rtlCol="0" anchor="t"/>
          <a:lstStyle/>
          <a:p>
            <a:pPr indent="0" marL="0">
              <a:buNone/>
            </a:pPr>
            <a:r>
              <a:rPr lang="en-US" sz="1200" dirty="0">
                <a:solidFill>
                  <a:schemeClr val="tx1"/>
                </a:solidFill>
              </a:rPr>
              <a:t>accuracy on re-worded questions. MedQuAD questions follow templates, so the split is easy. Real patients phrase questions freely, which is why the LLM handles the final answer.</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Retrieval finds the right disease 95% of the time</a:t>
            </a:r>
            <a:endParaRPr lang="en-US" sz="2800" dirty="0"/>
          </a:p>
        </p:txBody>
      </p:sp>
      <p:graphicFrame>
        <p:nvGraphicFramePr>
          <p:cNvPr id="3" name="retrieval chart" descr=""/>
          <p:cNvGraphicFramePr/>
          <p:nvPr/>
        </p:nvGraphicFramePr>
        <p:xfrm>
          <a:off x="457200" y="1097280"/>
          <a:ext cx="5394960" cy="3474720"/>
        </p:xfrm>
        <a:graphic xmlns:a="http://schemas.openxmlformats.org/drawingml/2006/main">
          <a:graphicData uri="http://schemas.openxmlformats.org/drawingml/2006/chart">
            <c:chart xmlns:c="http://schemas.openxmlformats.org/drawingml/2006/chart" r:id="rId1"/>
          </a:graphicData>
        </a:graphic>
      </p:graphicFrame>
      <p:sp>
        <p:nvSpPr>
          <p:cNvPr id="4" name="topic hit value"/>
          <p:cNvSpPr txBox="1"/>
          <p:nvPr/>
        </p:nvSpPr>
        <p:spPr>
          <a:xfrm>
            <a:off x="6217920" y="1188720"/>
            <a:ext cx="2468880" cy="64008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95.2%</a:t>
            </a:r>
            <a:endParaRPr lang="en-US" sz="4000" dirty="0"/>
          </a:p>
        </p:txBody>
      </p:sp>
      <p:sp>
        <p:nvSpPr>
          <p:cNvPr id="5" name="topic hit label"/>
          <p:cNvSpPr txBox="1"/>
          <p:nvPr/>
        </p:nvSpPr>
        <p:spPr>
          <a:xfrm>
            <a:off x="6217920" y="1847088"/>
            <a:ext cx="2468880" cy="411480"/>
          </a:xfrm>
          <a:prstGeom prst="rect">
            <a:avLst/>
          </a:prstGeom>
          <a:noFill/>
          <a:ln/>
        </p:spPr>
        <p:txBody>
          <a:bodyPr wrap="square" lIns="0" tIns="0" rIns="0" bIns="0" rtlCol="0" anchor="t"/>
          <a:lstStyle/>
          <a:p>
            <a:pPr indent="0" marL="0">
              <a:buNone/>
            </a:pPr>
            <a:r>
              <a:rPr lang="en-US" sz="1200" dirty="0">
                <a:solidFill>
                  <a:schemeClr val="accent4"/>
                </a:solidFill>
              </a:rPr>
              <a:t>top answer is about the correct disease</a:t>
            </a:r>
            <a:endParaRPr lang="en-US" sz="1200" dirty="0"/>
          </a:p>
        </p:txBody>
      </p:sp>
      <p:sp>
        <p:nvSpPr>
          <p:cNvPr id="6" name="hit at 5 value"/>
          <p:cNvSpPr txBox="1"/>
          <p:nvPr/>
        </p:nvSpPr>
        <p:spPr>
          <a:xfrm>
            <a:off x="6217920" y="2286000"/>
            <a:ext cx="2468880" cy="64008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89.2%</a:t>
            </a:r>
            <a:endParaRPr lang="en-US" sz="4000" dirty="0"/>
          </a:p>
        </p:txBody>
      </p:sp>
      <p:sp>
        <p:nvSpPr>
          <p:cNvPr id="7" name="hit at 5 label"/>
          <p:cNvSpPr txBox="1"/>
          <p:nvPr/>
        </p:nvSpPr>
        <p:spPr>
          <a:xfrm>
            <a:off x="6217920" y="2944368"/>
            <a:ext cx="2468880" cy="411480"/>
          </a:xfrm>
          <a:prstGeom prst="rect">
            <a:avLst/>
          </a:prstGeom>
          <a:noFill/>
          <a:ln/>
        </p:spPr>
        <p:txBody>
          <a:bodyPr wrap="square" lIns="0" tIns="0" rIns="0" bIns="0" rtlCol="0" anchor="t"/>
          <a:lstStyle/>
          <a:p>
            <a:pPr indent="0" marL="0">
              <a:buNone/>
            </a:pPr>
            <a:r>
              <a:rPr lang="en-US" sz="1200" dirty="0">
                <a:solidFill>
                  <a:schemeClr val="accent4"/>
                </a:solidFill>
              </a:rPr>
              <a:t>exact answer in the top 5 passages</a:t>
            </a:r>
            <a:endParaRPr lang="en-US" sz="1200" dirty="0"/>
          </a:p>
        </p:txBody>
      </p:sp>
      <p:sp>
        <p:nvSpPr>
          <p:cNvPr id="8" name="token f1 value"/>
          <p:cNvSpPr txBox="1"/>
          <p:nvPr/>
        </p:nvSpPr>
        <p:spPr>
          <a:xfrm>
            <a:off x="6217920" y="3383280"/>
            <a:ext cx="2468880" cy="640080"/>
          </a:xfrm>
          <a:prstGeom prst="rect">
            <a:avLst/>
          </a:prstGeom>
          <a:noFill/>
          <a:ln/>
        </p:spPr>
        <p:txBody>
          <a:bodyPr wrap="square" lIns="0" tIns="0" rIns="0" bIns="0" rtlCol="0" anchor="t"/>
          <a:lstStyle/>
          <a:p>
            <a:pPr indent="0" marL="0">
              <a:buNone/>
            </a:pPr>
            <a:r>
              <a:rPr lang="en-US" sz="4000" b="1" dirty="0">
                <a:solidFill>
                  <a:schemeClr val="accent4"/>
                </a:solidFill>
                <a:latin typeface="Cambria" pitchFamily="34" charset="0"/>
                <a:ea typeface="Cambria" pitchFamily="34" charset="-122"/>
                <a:cs typeface="Cambria" pitchFamily="34" charset="-120"/>
              </a:rPr>
              <a:t>55.4%</a:t>
            </a:r>
            <a:endParaRPr lang="en-US" sz="4000" dirty="0"/>
          </a:p>
        </p:txBody>
      </p:sp>
      <p:sp>
        <p:nvSpPr>
          <p:cNvPr id="9" name="token f1 label"/>
          <p:cNvSpPr txBox="1"/>
          <p:nvPr/>
        </p:nvSpPr>
        <p:spPr>
          <a:xfrm>
            <a:off x="6217920" y="4041648"/>
            <a:ext cx="2468880" cy="411480"/>
          </a:xfrm>
          <a:prstGeom prst="rect">
            <a:avLst/>
          </a:prstGeom>
          <a:noFill/>
          <a:ln/>
        </p:spPr>
        <p:txBody>
          <a:bodyPr wrap="square" lIns="0" tIns="0" rIns="0" bIns="0" rtlCol="0" anchor="t"/>
          <a:lstStyle/>
          <a:p>
            <a:pPr indent="0" marL="0">
              <a:buNone/>
            </a:pPr>
            <a:r>
              <a:rPr lang="en-US" sz="1200" dirty="0">
                <a:solidFill>
                  <a:schemeClr val="accent4"/>
                </a:solidFill>
              </a:rPr>
              <a:t>answer token-F1 vs. gold answer</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Demo: one request, several autonomous steps</a:t>
            </a:r>
            <a:endParaRPr lang="en-US" sz="2800" dirty="0"/>
          </a:p>
        </p:txBody>
      </p:sp>
      <p:pic>
        <p:nvPicPr>
          <p:cNvPr id="3" name="chat screenshot" descr="C:\Users\karpe\OneDrive\Desktop\AIML Project\Deep Learning Project\presentation\assets\chat_trace.png">    </p:cNvPr>
          <p:cNvPicPr>
            <a:picLocks noChangeAspect="1"/>
          </p:cNvPicPr>
          <p:nvPr/>
        </p:nvPicPr>
        <p:blipFill>
          <a:blip r:embed="rId1"/>
          <a:stretch>
            <a:fillRect/>
          </a:stretch>
        </p:blipFill>
        <p:spPr>
          <a:xfrm>
            <a:off x="457200" y="1188720"/>
            <a:ext cx="5486400" cy="2921000"/>
          </a:xfrm>
          <a:prstGeom prst="rect">
            <a:avLst/>
          </a:prstGeom>
          <a:effectLst>
            <a:outerShdw sx="100000" sy="100000" kx="0" ky="0" algn="bl" rotWithShape="0" blurRad="76200" dist="25400" dir="5400000">
              <a:srgbClr val="0F172A">
                <a:alpha val="12000"/>
              </a:srgbClr>
            </a:outerShdw>
          </a:effectLst>
        </p:spPr>
      </p:pic>
      <p:sp>
        <p:nvSpPr>
          <p:cNvPr id="4" name="planner accuracy value"/>
          <p:cNvSpPr txBox="1"/>
          <p:nvPr/>
        </p:nvSpPr>
        <p:spPr>
          <a:xfrm>
            <a:off x="6217920" y="1188720"/>
            <a:ext cx="2468880" cy="64008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20 / 20</a:t>
            </a:r>
            <a:endParaRPr lang="en-US" sz="4000" dirty="0"/>
          </a:p>
        </p:txBody>
      </p:sp>
      <p:sp>
        <p:nvSpPr>
          <p:cNvPr id="5" name="planner accuracy label"/>
          <p:cNvSpPr txBox="1"/>
          <p:nvPr/>
        </p:nvSpPr>
        <p:spPr>
          <a:xfrm>
            <a:off x="6217920" y="1847088"/>
            <a:ext cx="2468880" cy="411480"/>
          </a:xfrm>
          <a:prstGeom prst="rect">
            <a:avLst/>
          </a:prstGeom>
          <a:noFill/>
          <a:ln/>
        </p:spPr>
        <p:txBody>
          <a:bodyPr wrap="square" lIns="0" tIns="0" rIns="0" bIns="0" rtlCol="0" anchor="t"/>
          <a:lstStyle/>
          <a:p>
            <a:pPr indent="0" marL="0">
              <a:buNone/>
            </a:pPr>
            <a:r>
              <a:rPr lang="en-US" sz="1200" dirty="0">
                <a:solidFill>
                  <a:schemeClr val="accent4"/>
                </a:solidFill>
              </a:rPr>
              <a:t>multi-intent test requests planned correctly</a:t>
            </a:r>
            <a:endParaRPr lang="en-US" sz="1200" dirty="0"/>
          </a:p>
        </p:txBody>
      </p:sp>
      <p:sp>
        <p:nvSpPr>
          <p:cNvPr id="6" name="demo bullets"/>
          <p:cNvSpPr txBox="1"/>
          <p:nvPr/>
        </p:nvSpPr>
        <p:spPr>
          <a:xfrm>
            <a:off x="6217920" y="2377440"/>
            <a:ext cx="2468880" cy="16459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Agent reasoning trace shows every step</a:t>
            </a:r>
            <a:endParaRPr lang="en-US" sz="1300" dirty="0"/>
          </a:p>
          <a:p>
            <a:pPr marL="342900" indent="-342900">
              <a:spcAft>
                <a:spcPts val="600"/>
              </a:spcAft>
              <a:buSzPct val="100000"/>
              <a:buChar char="•"/>
            </a:pPr>
            <a:r>
              <a:rPr lang="en-US" sz="1300" dirty="0">
                <a:solidFill>
                  <a:schemeClr val="tx1"/>
                </a:solidFill>
              </a:rPr>
              <a:t>Specialty inferred from the report</a:t>
            </a:r>
            <a:endParaRPr lang="en-US" sz="1300" dirty="0"/>
          </a:p>
          <a:p>
            <a:pPr marL="342900" indent="-342900">
              <a:spcAft>
                <a:spcPts val="600"/>
              </a:spcAft>
              <a:buSzPct val="100000"/>
              <a:buChar char="•"/>
            </a:pPr>
            <a:r>
              <a:rPr lang="en-US" sz="1300" dirty="0">
                <a:solidFill>
                  <a:schemeClr val="tx1"/>
                </a:solidFill>
              </a:rPr>
              <a:t>Booking saved with an appointment ID</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Demo: abnormal lab values flagged instantly</a:t>
            </a:r>
            <a:endParaRPr lang="en-US" sz="2800" dirty="0"/>
          </a:p>
        </p:txBody>
      </p:sp>
      <p:pic>
        <p:nvPicPr>
          <p:cNvPr id="3" name="report screenshot" descr="C:\Users\karpe\OneDrive\Desktop\AIML Project\Deep Learning Project\presentation\assets\report.png">    </p:cNvPr>
          <p:cNvPicPr>
            <a:picLocks noChangeAspect="1"/>
          </p:cNvPicPr>
          <p:nvPr/>
        </p:nvPicPr>
        <p:blipFill>
          <a:blip r:embed="rId1"/>
          <a:stretch>
            <a:fillRect/>
          </a:stretch>
        </p:blipFill>
        <p:spPr>
          <a:xfrm>
            <a:off x="457200" y="1188720"/>
            <a:ext cx="5669280" cy="2749212"/>
          </a:xfrm>
          <a:prstGeom prst="rect">
            <a:avLst/>
          </a:prstGeom>
          <a:effectLst>
            <a:outerShdw sx="100000" sy="100000" kx="0" ky="0" algn="bl" rotWithShape="0" blurRad="76200" dist="25400" dir="5400000">
              <a:srgbClr val="0F172A">
                <a:alpha val="12000"/>
              </a:srgbClr>
            </a:outerShdw>
          </a:effectLst>
        </p:spPr>
      </p:pic>
      <p:sp>
        <p:nvSpPr>
          <p:cNvPr id="4" name="lab tests value"/>
          <p:cNvSpPr txBox="1"/>
          <p:nvPr/>
        </p:nvSpPr>
        <p:spPr>
          <a:xfrm>
            <a:off x="6400800" y="1188720"/>
            <a:ext cx="2286000" cy="64008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19</a:t>
            </a:r>
            <a:endParaRPr lang="en-US" sz="4000" dirty="0"/>
          </a:p>
        </p:txBody>
      </p:sp>
      <p:sp>
        <p:nvSpPr>
          <p:cNvPr id="5" name="lab tests label"/>
          <p:cNvSpPr txBox="1"/>
          <p:nvPr/>
        </p:nvSpPr>
        <p:spPr>
          <a:xfrm>
            <a:off x="6400800" y="1847088"/>
            <a:ext cx="2286000" cy="411480"/>
          </a:xfrm>
          <a:prstGeom prst="rect">
            <a:avLst/>
          </a:prstGeom>
          <a:noFill/>
          <a:ln/>
        </p:spPr>
        <p:txBody>
          <a:bodyPr wrap="square" lIns="0" tIns="0" rIns="0" bIns="0" rtlCol="0" anchor="t"/>
          <a:lstStyle/>
          <a:p>
            <a:pPr indent="0" marL="0">
              <a:buNone/>
            </a:pPr>
            <a:r>
              <a:rPr lang="en-US" sz="1200" dirty="0">
                <a:solidFill>
                  <a:schemeClr val="accent4"/>
                </a:solidFill>
              </a:rPr>
              <a:t>lab tests with reference ranges</a:t>
            </a:r>
            <a:endParaRPr lang="en-US" sz="1200" dirty="0"/>
          </a:p>
        </p:txBody>
      </p:sp>
      <p:sp>
        <p:nvSpPr>
          <p:cNvPr id="6" name="flagged values value"/>
          <p:cNvSpPr txBox="1"/>
          <p:nvPr/>
        </p:nvSpPr>
        <p:spPr>
          <a:xfrm>
            <a:off x="6400800" y="2286000"/>
            <a:ext cx="2286000" cy="640080"/>
          </a:xfrm>
          <a:prstGeom prst="rect">
            <a:avLst/>
          </a:prstGeom>
          <a:noFill/>
          <a:ln/>
        </p:spPr>
        <p:txBody>
          <a:bodyPr wrap="square" lIns="0" tIns="0" rIns="0" bIns="0" rtlCol="0" anchor="t"/>
          <a:lstStyle/>
          <a:p>
            <a:pPr indent="0" marL="0">
              <a:buNone/>
            </a:pPr>
            <a:r>
              <a:rPr lang="en-US" sz="4000" b="1" dirty="0">
                <a:solidFill>
                  <a:schemeClr val="accent3"/>
                </a:solidFill>
                <a:latin typeface="Cambria" pitchFamily="34" charset="0"/>
                <a:ea typeface="Cambria" pitchFamily="34" charset="-122"/>
                <a:cs typeface="Cambria" pitchFamily="34" charset="-120"/>
              </a:rPr>
              <a:t>10 / 15</a:t>
            </a:r>
            <a:endParaRPr lang="en-US" sz="4000" dirty="0"/>
          </a:p>
        </p:txBody>
      </p:sp>
      <p:sp>
        <p:nvSpPr>
          <p:cNvPr id="7" name="flagged values label"/>
          <p:cNvSpPr txBox="1"/>
          <p:nvPr/>
        </p:nvSpPr>
        <p:spPr>
          <a:xfrm>
            <a:off x="6400800" y="2944368"/>
            <a:ext cx="2286000" cy="411480"/>
          </a:xfrm>
          <a:prstGeom prst="rect">
            <a:avLst/>
          </a:prstGeom>
          <a:noFill/>
          <a:ln/>
        </p:spPr>
        <p:txBody>
          <a:bodyPr wrap="square" lIns="0" tIns="0" rIns="0" bIns="0" rtlCol="0" anchor="t"/>
          <a:lstStyle/>
          <a:p>
            <a:pPr indent="0" marL="0">
              <a:buNone/>
            </a:pPr>
            <a:r>
              <a:rPr lang="en-US" sz="1200" dirty="0">
                <a:solidFill>
                  <a:schemeClr val="accent4"/>
                </a:solidFill>
              </a:rPr>
              <a:t>values flagged in the sample report</a:t>
            </a:r>
            <a:endParaRPr lang="en-US" sz="1200" dirty="0"/>
          </a:p>
        </p:txBody>
      </p:sp>
      <p:sp>
        <p:nvSpPr>
          <p:cNvPr id="8" name="report note"/>
          <p:cNvSpPr txBox="1"/>
          <p:nvPr/>
        </p:nvSpPr>
        <p:spPr>
          <a:xfrm>
            <a:off x="6400800" y="3383280"/>
            <a:ext cx="2286000" cy="914400"/>
          </a:xfrm>
          <a:prstGeom prst="rect">
            <a:avLst/>
          </a:prstGeom>
          <a:noFill/>
          <a:ln/>
        </p:spPr>
        <p:txBody>
          <a:bodyPr wrap="square" lIns="0" tIns="0" rIns="0" bIns="0" rtlCol="0" anchor="t"/>
          <a:lstStyle/>
          <a:p>
            <a:pPr indent="0" marL="0">
              <a:buNone/>
            </a:pPr>
            <a:r>
              <a:rPr lang="en-US" sz="1300" dirty="0">
                <a:solidFill>
                  <a:schemeClr val="tx1"/>
                </a:solidFill>
              </a:rPr>
              <a:t>Abnormal results map to a follow-up specialty, ready to book in one click.</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Safety is built into every reply</a:t>
            </a:r>
            <a:endParaRPr lang="en-US" sz="2800" dirty="0"/>
          </a:p>
        </p:txBody>
      </p:sp>
      <p:sp>
        <p:nvSpPr>
          <p:cNvPr id="3" name="safety 1 circle"/>
          <p:cNvSpPr/>
          <p:nvPr/>
        </p:nvSpPr>
        <p:spPr>
          <a:xfrm>
            <a:off x="457200" y="1234440"/>
            <a:ext cx="594360" cy="594360"/>
          </a:xfrm>
          <a:prstGeom prst="ellipse">
            <a:avLst/>
          </a:prstGeom>
          <a:solidFill>
            <a:srgbClr val="F97316"/>
          </a:solidFill>
          <a:ln/>
        </p:spPr>
      </p:sp>
      <p:pic>
        <p:nvPicPr>
          <p:cNvPr id="4" name="safety 1 icon" descr="preencoded.png">    </p:cNvPr>
          <p:cNvPicPr>
            <a:picLocks noChangeAspect="1"/>
          </p:cNvPicPr>
          <p:nvPr/>
        </p:nvPicPr>
        <p:blipFill>
          <a:blip r:embed="rId1"/>
          <a:stretch>
            <a:fillRect/>
          </a:stretch>
        </p:blipFill>
        <p:spPr>
          <a:xfrm>
            <a:off x="611734" y="1388974"/>
            <a:ext cx="285293" cy="285293"/>
          </a:xfrm>
          <a:prstGeom prst="rect">
            <a:avLst/>
          </a:prstGeom>
        </p:spPr>
      </p:pic>
      <p:sp>
        <p:nvSpPr>
          <p:cNvPr id="5" name="safety title 1"/>
          <p:cNvSpPr txBox="1"/>
          <p:nvPr/>
        </p:nvSpPr>
        <p:spPr>
          <a:xfrm>
            <a:off x="1234440" y="1252728"/>
            <a:ext cx="3108960" cy="365760"/>
          </a:xfrm>
          <a:prstGeom prst="rect">
            <a:avLst/>
          </a:prstGeom>
          <a:noFill/>
          <a:ln/>
        </p:spPr>
        <p:txBody>
          <a:bodyPr wrap="square" lIns="0" tIns="0" rIns="0" bIns="0" rtlCol="0" anchor="t"/>
          <a:lstStyle/>
          <a:p>
            <a:pPr indent="0" marL="0">
              <a:buNone/>
            </a:pPr>
            <a:r>
              <a:rPr lang="en-US" sz="1600" b="1" dirty="0">
                <a:solidFill>
                  <a:schemeClr val="tx2"/>
                </a:solidFill>
              </a:rPr>
              <a:t>Emergency detection</a:t>
            </a:r>
            <a:endParaRPr lang="en-US" sz="1600" dirty="0"/>
          </a:p>
        </p:txBody>
      </p:sp>
      <p:sp>
        <p:nvSpPr>
          <p:cNvPr id="6" name="safety text 1"/>
          <p:cNvSpPr txBox="1"/>
          <p:nvPr/>
        </p:nvSpPr>
        <p:spPr>
          <a:xfrm>
            <a:off x="1234440" y="1645920"/>
            <a:ext cx="3108960" cy="914400"/>
          </a:xfrm>
          <a:prstGeom prst="rect">
            <a:avLst/>
          </a:prstGeom>
          <a:noFill/>
          <a:ln/>
        </p:spPr>
        <p:txBody>
          <a:bodyPr wrap="square" lIns="0" tIns="0" rIns="0" bIns="0" rtlCol="0" anchor="t"/>
          <a:lstStyle/>
          <a:p>
            <a:pPr indent="0" marL="0">
              <a:buNone/>
            </a:pPr>
            <a:r>
              <a:rPr lang="en-US" sz="1300" dirty="0">
                <a:solidFill>
                  <a:schemeClr val="tx1"/>
                </a:solidFill>
              </a:rPr>
              <a:t>Chest pain, breathing trouble or self-harm phrases skip the agent and show emergency numbers.</a:t>
            </a:r>
            <a:endParaRPr lang="en-US" sz="1300" dirty="0"/>
          </a:p>
        </p:txBody>
      </p:sp>
      <p:sp>
        <p:nvSpPr>
          <p:cNvPr id="7" name="safety 2 circle"/>
          <p:cNvSpPr/>
          <p:nvPr/>
        </p:nvSpPr>
        <p:spPr>
          <a:xfrm>
            <a:off x="4663440" y="1234440"/>
            <a:ext cx="594360" cy="594360"/>
          </a:xfrm>
          <a:prstGeom prst="ellipse">
            <a:avLst/>
          </a:prstGeom>
          <a:solidFill>
            <a:srgbClr val="0F766E"/>
          </a:solidFill>
          <a:ln/>
        </p:spPr>
      </p:sp>
      <p:pic>
        <p:nvPicPr>
          <p:cNvPr id="8" name="safety 2 icon" descr="preencoded.png">    </p:cNvPr>
          <p:cNvPicPr>
            <a:picLocks noChangeAspect="1"/>
          </p:cNvPicPr>
          <p:nvPr/>
        </p:nvPicPr>
        <p:blipFill>
          <a:blip r:embed="rId2"/>
          <a:stretch>
            <a:fillRect/>
          </a:stretch>
        </p:blipFill>
        <p:spPr>
          <a:xfrm>
            <a:off x="4817974" y="1388974"/>
            <a:ext cx="285293" cy="285293"/>
          </a:xfrm>
          <a:prstGeom prst="rect">
            <a:avLst/>
          </a:prstGeom>
        </p:spPr>
      </p:pic>
      <p:sp>
        <p:nvSpPr>
          <p:cNvPr id="9" name="safety title 2"/>
          <p:cNvSpPr txBox="1"/>
          <p:nvPr/>
        </p:nvSpPr>
        <p:spPr>
          <a:xfrm>
            <a:off x="5440680" y="1252728"/>
            <a:ext cx="3108960" cy="365760"/>
          </a:xfrm>
          <a:prstGeom prst="rect">
            <a:avLst/>
          </a:prstGeom>
          <a:noFill/>
          <a:ln/>
        </p:spPr>
        <p:txBody>
          <a:bodyPr wrap="square" lIns="0" tIns="0" rIns="0" bIns="0" rtlCol="0" anchor="t"/>
          <a:lstStyle/>
          <a:p>
            <a:pPr indent="0" marL="0">
              <a:buNone/>
            </a:pPr>
            <a:r>
              <a:rPr lang="en-US" sz="1600" b="1" dirty="0">
                <a:solidFill>
                  <a:schemeClr val="tx2"/>
                </a:solidFill>
              </a:rPr>
              <a:t>Grounded answers</a:t>
            </a:r>
            <a:endParaRPr lang="en-US" sz="1600" dirty="0"/>
          </a:p>
        </p:txBody>
      </p:sp>
      <p:sp>
        <p:nvSpPr>
          <p:cNvPr id="10" name="safety text 2"/>
          <p:cNvSpPr txBox="1"/>
          <p:nvPr/>
        </p:nvSpPr>
        <p:spPr>
          <a:xfrm>
            <a:off x="5440680" y="1645920"/>
            <a:ext cx="3108960" cy="914400"/>
          </a:xfrm>
          <a:prstGeom prst="rect">
            <a:avLst/>
          </a:prstGeom>
          <a:noFill/>
          <a:ln/>
        </p:spPr>
        <p:txBody>
          <a:bodyPr wrap="square" lIns="0" tIns="0" rIns="0" bIns="0" rtlCol="0" anchor="t"/>
          <a:lstStyle/>
          <a:p>
            <a:pPr indent="0" marL="0">
              <a:buNone/>
            </a:pPr>
            <a:r>
              <a:rPr lang="en-US" sz="1300" dirty="0">
                <a:solidFill>
                  <a:schemeClr val="tx1"/>
                </a:solidFill>
              </a:rPr>
              <a:t>Medical answers come from NIH-sourced MedQuAD passages, never invented.</a:t>
            </a:r>
            <a:endParaRPr lang="en-US" sz="1300" dirty="0"/>
          </a:p>
        </p:txBody>
      </p:sp>
      <p:sp>
        <p:nvSpPr>
          <p:cNvPr id="11" name="safety 3 circle"/>
          <p:cNvSpPr/>
          <p:nvPr/>
        </p:nvSpPr>
        <p:spPr>
          <a:xfrm>
            <a:off x="457200" y="2926080"/>
            <a:ext cx="594360" cy="594360"/>
          </a:xfrm>
          <a:prstGeom prst="ellipse">
            <a:avLst/>
          </a:prstGeom>
          <a:solidFill>
            <a:srgbClr val="0F766E"/>
          </a:solidFill>
          <a:ln/>
        </p:spPr>
      </p:sp>
      <p:pic>
        <p:nvPicPr>
          <p:cNvPr id="12" name="safety 3 icon" descr="preencoded.png">    </p:cNvPr>
          <p:cNvPicPr>
            <a:picLocks noChangeAspect="1"/>
          </p:cNvPicPr>
          <p:nvPr/>
        </p:nvPicPr>
        <p:blipFill>
          <a:blip r:embed="rId3"/>
          <a:stretch>
            <a:fillRect/>
          </a:stretch>
        </p:blipFill>
        <p:spPr>
          <a:xfrm>
            <a:off x="611734" y="3080614"/>
            <a:ext cx="285293" cy="285293"/>
          </a:xfrm>
          <a:prstGeom prst="rect">
            <a:avLst/>
          </a:prstGeom>
        </p:spPr>
      </p:pic>
      <p:sp>
        <p:nvSpPr>
          <p:cNvPr id="13" name="safety title 3"/>
          <p:cNvSpPr txBox="1"/>
          <p:nvPr/>
        </p:nvSpPr>
        <p:spPr>
          <a:xfrm>
            <a:off x="1234440" y="2944368"/>
            <a:ext cx="3108960" cy="365760"/>
          </a:xfrm>
          <a:prstGeom prst="rect">
            <a:avLst/>
          </a:prstGeom>
          <a:noFill/>
          <a:ln/>
        </p:spPr>
        <p:txBody>
          <a:bodyPr wrap="square" lIns="0" tIns="0" rIns="0" bIns="0" rtlCol="0" anchor="t"/>
          <a:lstStyle/>
          <a:p>
            <a:pPr indent="0" marL="0">
              <a:buNone/>
            </a:pPr>
            <a:r>
              <a:rPr lang="en-US" sz="1600" b="1" dirty="0">
                <a:solidFill>
                  <a:schemeClr val="tx2"/>
                </a:solidFill>
              </a:rPr>
              <a:t>No diagnosis or dosing</a:t>
            </a:r>
            <a:endParaRPr lang="en-US" sz="1600" dirty="0"/>
          </a:p>
        </p:txBody>
      </p:sp>
      <p:sp>
        <p:nvSpPr>
          <p:cNvPr id="14" name="safety text 3"/>
          <p:cNvSpPr txBox="1"/>
          <p:nvPr/>
        </p:nvSpPr>
        <p:spPr>
          <a:xfrm>
            <a:off x="1234440" y="3337560"/>
            <a:ext cx="3108960" cy="914400"/>
          </a:xfrm>
          <a:prstGeom prst="rect">
            <a:avLst/>
          </a:prstGeom>
          <a:noFill/>
          <a:ln/>
        </p:spPr>
        <p:txBody>
          <a:bodyPr wrap="square" lIns="0" tIns="0" rIns="0" bIns="0" rtlCol="0" anchor="t"/>
          <a:lstStyle/>
          <a:p>
            <a:pPr indent="0" marL="0">
              <a:buNone/>
            </a:pPr>
            <a:r>
              <a:rPr lang="en-US" sz="1300" dirty="0">
                <a:solidFill>
                  <a:schemeClr val="tx1"/>
                </a:solidFill>
              </a:rPr>
              <a:t>The assistant informs and refers; every reply carries a disclaimer.</a:t>
            </a:r>
            <a:endParaRPr lang="en-US" sz="1300" dirty="0"/>
          </a:p>
        </p:txBody>
      </p:sp>
      <p:sp>
        <p:nvSpPr>
          <p:cNvPr id="15" name="safety 4 circle"/>
          <p:cNvSpPr/>
          <p:nvPr/>
        </p:nvSpPr>
        <p:spPr>
          <a:xfrm>
            <a:off x="4663440" y="2926080"/>
            <a:ext cx="594360" cy="594360"/>
          </a:xfrm>
          <a:prstGeom prst="ellipse">
            <a:avLst/>
          </a:prstGeom>
          <a:solidFill>
            <a:srgbClr val="0F766E"/>
          </a:solidFill>
          <a:ln/>
        </p:spPr>
      </p:sp>
      <p:pic>
        <p:nvPicPr>
          <p:cNvPr id="16" name="safety 4 icon" descr="preencoded.png">    </p:cNvPr>
          <p:cNvPicPr>
            <a:picLocks noChangeAspect="1"/>
          </p:cNvPicPr>
          <p:nvPr/>
        </p:nvPicPr>
        <p:blipFill>
          <a:blip r:embed="rId4"/>
          <a:stretch>
            <a:fillRect/>
          </a:stretch>
        </p:blipFill>
        <p:spPr>
          <a:xfrm>
            <a:off x="4817974" y="3080614"/>
            <a:ext cx="285293" cy="285293"/>
          </a:xfrm>
          <a:prstGeom prst="rect">
            <a:avLst/>
          </a:prstGeom>
        </p:spPr>
      </p:pic>
      <p:sp>
        <p:nvSpPr>
          <p:cNvPr id="17" name="safety title 4"/>
          <p:cNvSpPr txBox="1"/>
          <p:nvPr/>
        </p:nvSpPr>
        <p:spPr>
          <a:xfrm>
            <a:off x="5440680" y="2944368"/>
            <a:ext cx="3108960" cy="365760"/>
          </a:xfrm>
          <a:prstGeom prst="rect">
            <a:avLst/>
          </a:prstGeom>
          <a:noFill/>
          <a:ln/>
        </p:spPr>
        <p:txBody>
          <a:bodyPr wrap="square" lIns="0" tIns="0" rIns="0" bIns="0" rtlCol="0" anchor="t"/>
          <a:lstStyle/>
          <a:p>
            <a:pPr indent="0" marL="0">
              <a:buNone/>
            </a:pPr>
            <a:r>
              <a:rPr lang="en-US" sz="1600" b="1" dirty="0">
                <a:solidFill>
                  <a:schemeClr val="tx2"/>
                </a:solidFill>
              </a:rPr>
              <a:t>Works offline</a:t>
            </a:r>
            <a:endParaRPr lang="en-US" sz="1600" dirty="0"/>
          </a:p>
        </p:txBody>
      </p:sp>
      <p:sp>
        <p:nvSpPr>
          <p:cNvPr id="18" name="safety text 4"/>
          <p:cNvSpPr txBox="1"/>
          <p:nvPr/>
        </p:nvSpPr>
        <p:spPr>
          <a:xfrm>
            <a:off x="5440680" y="3337560"/>
            <a:ext cx="3108960" cy="914400"/>
          </a:xfrm>
          <a:prstGeom prst="rect">
            <a:avLst/>
          </a:prstGeom>
          <a:noFill/>
          <a:ln/>
        </p:spPr>
        <p:txBody>
          <a:bodyPr wrap="square" lIns="0" tIns="0" rIns="0" bIns="0" rtlCol="0" anchor="t"/>
          <a:lstStyle/>
          <a:p>
            <a:pPr indent="0" marL="0">
              <a:buNone/>
            </a:pPr>
            <a:r>
              <a:rPr lang="en-US" sz="1300" dirty="0">
                <a:solidFill>
                  <a:schemeClr val="tx1"/>
                </a:solidFill>
              </a:rPr>
              <a:t>Without an API key, all features run locally on the trained models.</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Limitations and next steps</a:t>
            </a:r>
            <a:endParaRPr lang="en-US" sz="2800" dirty="0"/>
          </a:p>
        </p:txBody>
      </p:sp>
      <p:sp>
        <p:nvSpPr>
          <p:cNvPr id="3" name="limitations card"/>
          <p:cNvSpPr/>
          <p:nvPr/>
        </p:nvSpPr>
        <p:spPr>
          <a:xfrm>
            <a:off x="457200" y="1188720"/>
            <a:ext cx="3977640" cy="2834640"/>
          </a:xfrm>
          <a:prstGeom prst="roundRect">
            <a:avLst>
              <a:gd name="adj" fmla="val 2581"/>
            </a:avLst>
          </a:prstGeom>
          <a:solidFill>
            <a:schemeClr val="bg2"/>
          </a:solidFill>
          <a:ln/>
          <a:effectLst>
            <a:outerShdw sx="100000" sy="100000" kx="0" ky="0" algn="bl" rotWithShape="0" blurRad="76200" dist="25400" dir="5400000">
              <a:srgbClr val="0F172A">
                <a:alpha val="12000"/>
              </a:srgbClr>
            </a:outerShdw>
          </a:effectLst>
        </p:spPr>
      </p:sp>
      <p:sp>
        <p:nvSpPr>
          <p:cNvPr id="4" name="future card"/>
          <p:cNvSpPr/>
          <p:nvPr/>
        </p:nvSpPr>
        <p:spPr>
          <a:xfrm>
            <a:off x="4709160" y="1188720"/>
            <a:ext cx="3977640" cy="2834640"/>
          </a:xfrm>
          <a:prstGeom prst="roundRect">
            <a:avLst>
              <a:gd name="adj" fmla="val 2581"/>
            </a:avLst>
          </a:prstGeom>
          <a:solidFill>
            <a:schemeClr val="accent5"/>
          </a:solidFill>
          <a:ln/>
          <a:effectLst>
            <a:outerShdw sx="100000" sy="100000" kx="0" ky="0" algn="bl" rotWithShape="0" blurRad="76200" dist="25400" dir="5400000">
              <a:srgbClr val="0F172A">
                <a:alpha val="12000"/>
              </a:srgbClr>
            </a:outerShdw>
          </a:effectLst>
        </p:spPr>
      </p:sp>
      <p:sp>
        <p:nvSpPr>
          <p:cNvPr id="5" name="limitations title"/>
          <p:cNvSpPr txBox="1"/>
          <p:nvPr/>
        </p:nvSpPr>
        <p:spPr>
          <a:xfrm>
            <a:off x="685800" y="1371600"/>
            <a:ext cx="3566160" cy="365760"/>
          </a:xfrm>
          <a:prstGeom prst="rect">
            <a:avLst/>
          </a:prstGeom>
          <a:noFill/>
          <a:ln/>
        </p:spPr>
        <p:txBody>
          <a:bodyPr wrap="square" lIns="0" tIns="0" rIns="0" bIns="0" rtlCol="0" anchor="t"/>
          <a:lstStyle/>
          <a:p>
            <a:pPr indent="0" marL="0">
              <a:buNone/>
            </a:pPr>
            <a:r>
              <a:rPr lang="en-US" sz="1800" b="1" dirty="0">
                <a:solidFill>
                  <a:schemeClr val="accent3"/>
                </a:solidFill>
              </a:rPr>
              <a:t>Limitations</a:t>
            </a:r>
            <a:endParaRPr lang="en-US" sz="1800" dirty="0"/>
          </a:p>
        </p:txBody>
      </p:sp>
      <p:sp>
        <p:nvSpPr>
          <p:cNvPr id="6" name="limitations list"/>
          <p:cNvSpPr txBox="1"/>
          <p:nvPr/>
        </p:nvSpPr>
        <p:spPr>
          <a:xfrm>
            <a:off x="685800" y="1874520"/>
            <a:ext cx="3566160" cy="24688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Classifier overfits MedQuAD templates</a:t>
            </a:r>
            <a:endParaRPr lang="en-US" sz="1400" dirty="0"/>
          </a:p>
          <a:p>
            <a:pPr marL="342900" indent="-342900">
              <a:spcAft>
                <a:spcPts val="800"/>
              </a:spcAft>
              <a:buSzPct val="100000"/>
              <a:buChar char="•"/>
            </a:pPr>
            <a:r>
              <a:rPr lang="en-US" sz="1400" dirty="0">
                <a:solidFill>
                  <a:schemeClr val="tx1"/>
                </a:solidFill>
              </a:rPr>
              <a:t>TF-IDF misses synonyms (signs ≈ symptoms)</a:t>
            </a:r>
            <a:endParaRPr lang="en-US" sz="1400" dirty="0"/>
          </a:p>
          <a:p>
            <a:pPr marL="342900" indent="-342900">
              <a:spcAft>
                <a:spcPts val="800"/>
              </a:spcAft>
              <a:buSzPct val="100000"/>
              <a:buChar char="•"/>
            </a:pPr>
            <a:r>
              <a:rPr lang="en-US" sz="1400" dirty="0">
                <a:solidFill>
                  <a:schemeClr val="tx1"/>
                </a:solidFill>
              </a:rPr>
              <a:t>Report parser needs text, not scanned PDFs</a:t>
            </a:r>
            <a:endParaRPr lang="en-US" sz="1400" dirty="0"/>
          </a:p>
          <a:p>
            <a:pPr marL="342900" indent="-342900">
              <a:spcAft>
                <a:spcPts val="800"/>
              </a:spcAft>
              <a:buSzPct val="100000"/>
              <a:buChar char="•"/>
            </a:pPr>
            <a:r>
              <a:rPr lang="en-US" sz="1400" dirty="0">
                <a:solidFill>
                  <a:schemeClr val="tx1"/>
                </a:solidFill>
              </a:rPr>
              <a:t>Scheduler is a local demo store</a:t>
            </a:r>
            <a:endParaRPr lang="en-US" sz="1400" dirty="0"/>
          </a:p>
        </p:txBody>
      </p:sp>
      <p:sp>
        <p:nvSpPr>
          <p:cNvPr id="7" name="future title"/>
          <p:cNvSpPr txBox="1"/>
          <p:nvPr/>
        </p:nvSpPr>
        <p:spPr>
          <a:xfrm>
            <a:off x="4937760" y="1371600"/>
            <a:ext cx="3566160" cy="365760"/>
          </a:xfrm>
          <a:prstGeom prst="rect">
            <a:avLst/>
          </a:prstGeom>
          <a:noFill/>
          <a:ln/>
        </p:spPr>
        <p:txBody>
          <a:bodyPr wrap="square" lIns="0" tIns="0" rIns="0" bIns="0" rtlCol="0" anchor="t"/>
          <a:lstStyle/>
          <a:p>
            <a:pPr indent="0" marL="0">
              <a:buNone/>
            </a:pPr>
            <a:r>
              <a:rPr lang="en-US" sz="1800" b="1" dirty="0">
                <a:solidFill>
                  <a:schemeClr val="accent1"/>
                </a:solidFill>
              </a:rPr>
              <a:t>Next steps</a:t>
            </a:r>
            <a:endParaRPr lang="en-US" sz="1800" dirty="0"/>
          </a:p>
        </p:txBody>
      </p:sp>
      <p:sp>
        <p:nvSpPr>
          <p:cNvPr id="8" name="future list"/>
          <p:cNvSpPr txBox="1"/>
          <p:nvPr/>
        </p:nvSpPr>
        <p:spPr>
          <a:xfrm>
            <a:off x="4937760" y="1874520"/>
            <a:ext cx="3566160" cy="24688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Dense embeddings (BioBERT / sentence transformers)</a:t>
            </a:r>
            <a:endParaRPr lang="en-US" sz="1400" dirty="0"/>
          </a:p>
          <a:p>
            <a:pPr marL="342900" indent="-342900">
              <a:spcAft>
                <a:spcPts val="800"/>
              </a:spcAft>
              <a:buSzPct val="100000"/>
              <a:buChar char="•"/>
            </a:pPr>
            <a:r>
              <a:rPr lang="en-US" sz="1400" dirty="0">
                <a:solidFill>
                  <a:schemeClr val="tx1"/>
                </a:solidFill>
              </a:rPr>
              <a:t>Paraphrase augmentation for the classifier</a:t>
            </a:r>
            <a:endParaRPr lang="en-US" sz="1400" dirty="0"/>
          </a:p>
          <a:p>
            <a:pPr marL="342900" indent="-342900">
              <a:spcAft>
                <a:spcPts val="800"/>
              </a:spcAft>
              <a:buSzPct val="100000"/>
              <a:buChar char="•"/>
            </a:pPr>
            <a:r>
              <a:rPr lang="en-US" sz="1400" dirty="0">
                <a:solidFill>
                  <a:schemeClr val="tx1"/>
                </a:solidFill>
              </a:rPr>
              <a:t>OCR for PDF and image reports</a:t>
            </a:r>
            <a:endParaRPr lang="en-US" sz="1400" dirty="0"/>
          </a:p>
          <a:p>
            <a:pPr marL="342900" indent="-342900">
              <a:spcAft>
                <a:spcPts val="800"/>
              </a:spcAft>
              <a:buSzPct val="100000"/>
              <a:buChar char="•"/>
            </a:pPr>
            <a:r>
              <a:rPr lang="en-US" sz="1400" dirty="0">
                <a:solidFill>
                  <a:schemeClr val="tx1"/>
                </a:solidFill>
              </a:rPr>
              <a:t>Connect to a real hospital calendar (FHIR)</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1325880"/>
            <a:ext cx="5120640" cy="1188720"/>
          </a:xfrm>
          <a:prstGeom prst="rect">
            <a:avLst/>
          </a:prstGeom>
          <a:noFill/>
          <a:ln/>
        </p:spPr>
        <p:txBody>
          <a:bodyPr wrap="square" lIns="0" tIns="0" rIns="0" bIns="0" rtlCol="0" anchor="b"/>
          <a:lstStyle/>
          <a:p>
            <a:pPr algn="l" indent="0" marL="0">
              <a:buNone/>
            </a:pPr>
            <a:r>
              <a:rPr lang="en-US" sz="4400" b="1" dirty="0">
                <a:solidFill>
                  <a:schemeClr val="bg1"/>
                </a:solidFill>
                <a:latin typeface="Cambria" pitchFamily="34" charset="0"/>
                <a:ea typeface="Cambria" pitchFamily="34" charset="-122"/>
                <a:cs typeface="Cambria" pitchFamily="34" charset="-120"/>
              </a:rPr>
              <a:t>Thank you</a:t>
            </a:r>
            <a:endParaRPr lang="en-US" sz="4400" dirty="0"/>
          </a:p>
        </p:txBody>
      </p:sp>
      <p:sp>
        <p:nvSpPr>
          <p:cNvPr id="3" name="Text 0"/>
          <p:cNvSpPr/>
          <p:nvPr>
            <p:ph idx="101" type="body" hasCustomPrompt="1"/>
          </p:nvPr>
        </p:nvSpPr>
        <p:spPr>
          <a:xfrm>
            <a:off x="548640" y="2651760"/>
            <a:ext cx="5120640" cy="1280160"/>
          </a:xfrm>
          <a:prstGeom prst="rect">
            <a:avLst/>
          </a:prstGeom>
          <a:noFill/>
          <a:ln/>
        </p:spPr>
        <p:txBody>
          <a:bodyPr wrap="square" lIns="0" tIns="0" rIns="0" bIns="0" rtlCol="0" anchor="t"/>
          <a:lstStyle/>
          <a:p>
            <a:pPr algn="l" indent="0" marL="0">
              <a:buNone/>
            </a:pPr>
            <a:r>
              <a:rPr lang="en-US" sz="1800" dirty="0">
                <a:solidFill>
                  <a:schemeClr val="accent5"/>
                </a:solidFill>
              </a:rPr>
              <a:t>Questions?</a:t>
            </a:r>
            <a:endParaRPr lang="en-US" sz="1800" dirty="0"/>
          </a:p>
          <a:p>
            <a:pPr algn="l" indent="0" marL="0">
              <a:buNone/>
            </a:pPr>
            <a:r>
              <a:rPr lang="en-US" sz="1300" dirty="0">
                <a:solidFill>
                  <a:schemeClr val="accent2"/>
                </a:solidFill>
              </a:rPr>
              <a:t>Run it:  python train_evaluate.py  →  streamlit run app.py</a:t>
            </a:r>
            <a:endParaRPr lang="en-US" sz="1800" dirty="0"/>
          </a:p>
        </p:txBody>
      </p:sp>
      <p:sp>
        <p:nvSpPr>
          <p:cNvPr id="4" name="closing circle"/>
          <p:cNvSpPr/>
          <p:nvPr/>
        </p:nvSpPr>
        <p:spPr>
          <a:xfrm>
            <a:off x="6172200" y="1051560"/>
            <a:ext cx="2468880" cy="2468880"/>
          </a:xfrm>
          <a:prstGeom prst="ellipse">
            <a:avLst/>
          </a:prstGeom>
          <a:solidFill>
            <a:schemeClr val="accent1"/>
          </a:solidFill>
          <a:ln/>
        </p:spPr>
      </p:sp>
      <p:pic>
        <p:nvPicPr>
          <p:cNvPr id="5" name="closing icon" descr="preencoded.png">    </p:cNvPr>
          <p:cNvPicPr>
            <a:picLocks noChangeAspect="1"/>
          </p:cNvPicPr>
          <p:nvPr/>
        </p:nvPicPr>
        <p:blipFill>
          <a:blip r:embed="rId1"/>
          <a:stretch>
            <a:fillRect/>
          </a:stretch>
        </p:blipFill>
        <p:spPr>
          <a:xfrm>
            <a:off x="6766560" y="1645920"/>
            <a:ext cx="1280160" cy="1280160"/>
          </a:xfrm>
          <a:prstGeom prst="rect">
            <a:avLst/>
          </a:prstGeom>
        </p:spPr>
      </p:pic>
    </p:spTree>
  </p:cSld>
  <p:clrMapOvr>
    <a:masterClrMapping/>
  </p:clrMapOvr>
</p:sld>
</file>

<file path=ppt/theme/theme1.xml><?xml version="1.0" encoding="utf-8"?>
<a:theme xmlns:a="http://schemas.openxmlformats.org/drawingml/2006/main" name="MediAssist Teal">
  <a:themeElements>
    <a:clrScheme name="MediAssist Teal">
      <a:dk1>
        <a:srgbClr val="0F172A"/>
      </a:dk1>
      <a:lt1>
        <a:srgbClr val="FFFFFF"/>
      </a:lt1>
      <a:dk2>
        <a:srgbClr val="0B3B3C"/>
      </a:dk2>
      <a:lt2>
        <a:srgbClr val="ECFDF8"/>
      </a:lt2>
      <a:accent1>
        <a:srgbClr val="0F766E"/>
      </a:accent1>
      <a:accent2>
        <a:srgbClr val="14B8A6"/>
      </a:accent2>
      <a:accent3>
        <a:srgbClr val="F97316"/>
      </a:accent3>
      <a:accent4>
        <a:srgbClr val="64748B"/>
      </a:accent4>
      <a:accent5>
        <a:srgbClr val="CCFBF1"/>
      </a:accent5>
      <a:accent6>
        <a:srgbClr val="FED7AA"/>
      </a:accent6>
      <a:hlink>
        <a:srgbClr val="0F766E"/>
      </a:hlink>
      <a:folHlink>
        <a:srgbClr val="64748B"/>
      </a:folHlink>
    </a:clrScheme>
    <a:fontScheme name="MediAssist Te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MediAssist - LLM + Agentic AI Healthcare Assistant</dc:title>
  <dc:subject>PptxGenJS Presentation</dc:subject>
  <dc:creator>PptxGenJS</dc:creator>
  <cp:lastModifiedBy>PptxGenJS</cp:lastModifiedBy>
  <cp:revision>1</cp:revision>
  <dcterms:created xsi:type="dcterms:W3CDTF">2026-10-07T08:51:12Z</dcterms:created>
  <dcterms:modified xsi:type="dcterms:W3CDTF">2026-10-07T08:51:12Z</dcterms:modified>
</cp:coreProperties>
</file>